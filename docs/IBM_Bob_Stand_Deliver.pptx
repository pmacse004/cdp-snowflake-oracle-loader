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42" y="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5303520" cy="6693408"/>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457200"/>
            <a:ext cx="2743200" cy="1005840"/>
          </a:xfrm>
          <a:prstGeom prst="rect">
            <a:avLst/>
          </a:prstGeom>
          <a:noFill/>
        </p:spPr>
        <p:txBody>
          <a:bodyPr wrap="square">
            <a:spAutoFit/>
          </a:bodyPr>
          <a:lstStyle/>
          <a:p>
            <a:pPr algn="l"/>
            <a:r>
              <a:rPr sz="6000" b="1" i="0">
                <a:solidFill>
                  <a:srgbClr val="FFFFFF"/>
                </a:solidFill>
              </a:rPr>
              <a:t>IBM</a:t>
            </a:r>
          </a:p>
        </p:txBody>
      </p:sp>
      <p:sp>
        <p:nvSpPr>
          <p:cNvPr id="5" name="TextBox 4"/>
          <p:cNvSpPr txBox="1"/>
          <p:nvPr/>
        </p:nvSpPr>
        <p:spPr>
          <a:xfrm>
            <a:off x="320040" y="1371600"/>
            <a:ext cx="2743200" cy="914400"/>
          </a:xfrm>
          <a:prstGeom prst="rect">
            <a:avLst/>
          </a:prstGeom>
          <a:noFill/>
        </p:spPr>
        <p:txBody>
          <a:bodyPr wrap="square">
            <a:spAutoFit/>
          </a:bodyPr>
          <a:lstStyle/>
          <a:p>
            <a:pPr algn="l"/>
            <a:r>
              <a:rPr sz="6000" b="0" i="0">
                <a:solidFill>
                  <a:srgbClr val="D0E2FF"/>
                </a:solidFill>
              </a:rPr>
              <a:t>Bob</a:t>
            </a:r>
          </a:p>
        </p:txBody>
      </p:sp>
      <p:sp>
        <p:nvSpPr>
          <p:cNvPr id="6" name="Rectangle 5"/>
          <p:cNvSpPr/>
          <p:nvPr/>
        </p:nvSpPr>
        <p:spPr>
          <a:xfrm>
            <a:off x="320040" y="2304288"/>
            <a:ext cx="466344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2450592"/>
            <a:ext cx="4663440" cy="411480"/>
          </a:xfrm>
          <a:prstGeom prst="rect">
            <a:avLst/>
          </a:prstGeom>
          <a:noFill/>
        </p:spPr>
        <p:txBody>
          <a:bodyPr wrap="square">
            <a:spAutoFit/>
          </a:bodyPr>
          <a:lstStyle/>
          <a:p>
            <a:pPr algn="l"/>
            <a:r>
              <a:rPr sz="1400" b="0" i="0">
                <a:solidFill>
                  <a:srgbClr val="FFFFFF"/>
                </a:solidFill>
              </a:rPr>
              <a:t>Level 3  ·  Stand &amp; Deliver</a:t>
            </a:r>
          </a:p>
        </p:txBody>
      </p:sp>
      <p:sp>
        <p:nvSpPr>
          <p:cNvPr id="8" name="TextBox 7"/>
          <p:cNvSpPr txBox="1"/>
          <p:nvPr/>
        </p:nvSpPr>
        <p:spPr>
          <a:xfrm>
            <a:off x="320040" y="2971800"/>
            <a:ext cx="4663440" cy="1234440"/>
          </a:xfrm>
          <a:prstGeom prst="rect">
            <a:avLst/>
          </a:prstGeom>
          <a:noFill/>
        </p:spPr>
        <p:txBody>
          <a:bodyPr wrap="square">
            <a:spAutoFit/>
          </a:bodyPr>
          <a:lstStyle/>
          <a:p>
            <a:pPr algn="l"/>
            <a:r>
              <a:rPr sz="2600" b="1" i="0">
                <a:solidFill>
                  <a:srgbClr val="FFFFFF"/>
                </a:solidFill>
              </a:rPr>
              <a:t>National Grid
Demand Side Management (DSM)</a:t>
            </a:r>
          </a:p>
        </p:txBody>
      </p:sp>
      <p:sp>
        <p:nvSpPr>
          <p:cNvPr id="9" name="TextBox 8"/>
          <p:cNvSpPr txBox="1"/>
          <p:nvPr/>
        </p:nvSpPr>
        <p:spPr>
          <a:xfrm>
            <a:off x="320040" y="4297680"/>
            <a:ext cx="4663440" cy="457200"/>
          </a:xfrm>
          <a:prstGeom prst="rect">
            <a:avLst/>
          </a:prstGeom>
          <a:noFill/>
        </p:spPr>
        <p:txBody>
          <a:bodyPr wrap="square">
            <a:spAutoFit/>
          </a:bodyPr>
          <a:lstStyle/>
          <a:p>
            <a:pPr algn="l"/>
            <a:r>
              <a:rPr sz="1300" b="0" i="0">
                <a:solidFill>
                  <a:srgbClr val="D0E2FF"/>
                </a:solidFill>
              </a:rPr>
              <a:t>CDP Snowflake → DSM Oracle Loader</a:t>
            </a:r>
          </a:p>
        </p:txBody>
      </p:sp>
      <p:sp>
        <p:nvSpPr>
          <p:cNvPr id="10" name="TextBox 9"/>
          <p:cNvSpPr txBox="1"/>
          <p:nvPr/>
        </p:nvSpPr>
        <p:spPr>
          <a:xfrm>
            <a:off x="320040" y="6035040"/>
            <a:ext cx="4663440" cy="246221"/>
          </a:xfrm>
          <a:prstGeom prst="rect">
            <a:avLst/>
          </a:prstGeom>
          <a:noFill/>
        </p:spPr>
        <p:txBody>
          <a:bodyPr wrap="square">
            <a:spAutoFit/>
          </a:bodyPr>
          <a:lstStyle/>
          <a:p>
            <a:pPr algn="l"/>
            <a:r>
              <a:rPr sz="1000" b="0" i="0" dirty="0">
                <a:solidFill>
                  <a:srgbClr val="D0E2FF"/>
                </a:solidFill>
              </a:rPr>
              <a:t>Althaf P M  |  IBM Technical Sales  |  </a:t>
            </a:r>
            <a:r>
              <a:rPr lang="en-IN" sz="1000" b="0" i="0" dirty="0">
                <a:solidFill>
                  <a:srgbClr val="D0E2FF"/>
                </a:solidFill>
              </a:rPr>
              <a:t>2026</a:t>
            </a:r>
            <a:endParaRPr sz="1000" b="0" i="0" dirty="0">
              <a:solidFill>
                <a:srgbClr val="D0E2FF"/>
              </a:solidFill>
            </a:endParaRPr>
          </a:p>
        </p:txBody>
      </p:sp>
      <p:sp>
        <p:nvSpPr>
          <p:cNvPr id="11" name="TextBox 10"/>
          <p:cNvSpPr txBox="1"/>
          <p:nvPr/>
        </p:nvSpPr>
        <p:spPr>
          <a:xfrm>
            <a:off x="5669280" y="822960"/>
            <a:ext cx="6217920" cy="320040"/>
          </a:xfrm>
          <a:prstGeom prst="rect">
            <a:avLst/>
          </a:prstGeom>
          <a:noFill/>
        </p:spPr>
        <p:txBody>
          <a:bodyPr wrap="square">
            <a:spAutoFit/>
          </a:bodyPr>
          <a:lstStyle/>
          <a:p>
            <a:pPr algn="l"/>
            <a:r>
              <a:rPr sz="1000" b="1" i="0">
                <a:solidFill>
                  <a:srgbClr val="CCEBD7"/>
                </a:solidFill>
              </a:rPr>
              <a:t>Client</a:t>
            </a:r>
          </a:p>
        </p:txBody>
      </p:sp>
      <p:sp>
        <p:nvSpPr>
          <p:cNvPr id="12" name="TextBox 11"/>
          <p:cNvSpPr txBox="1"/>
          <p:nvPr/>
        </p:nvSpPr>
        <p:spPr>
          <a:xfrm>
            <a:off x="5669280" y="1115568"/>
            <a:ext cx="6217920" cy="457200"/>
          </a:xfrm>
          <a:prstGeom prst="rect">
            <a:avLst/>
          </a:prstGeom>
          <a:noFill/>
        </p:spPr>
        <p:txBody>
          <a:bodyPr wrap="square">
            <a:spAutoFit/>
          </a:bodyPr>
          <a:lstStyle/>
          <a:p>
            <a:pPr algn="l"/>
            <a:r>
              <a:rPr sz="2000" b="1" i="0">
                <a:solidFill>
                  <a:srgbClr val="FFFFFF"/>
                </a:solidFill>
              </a:rPr>
              <a:t>National Grid</a:t>
            </a:r>
          </a:p>
        </p:txBody>
      </p:sp>
      <p:sp>
        <p:nvSpPr>
          <p:cNvPr id="13" name="TextBox 12"/>
          <p:cNvSpPr txBox="1"/>
          <p:nvPr/>
        </p:nvSpPr>
        <p:spPr>
          <a:xfrm>
            <a:off x="5669280" y="1572768"/>
            <a:ext cx="6217920" cy="594360"/>
          </a:xfrm>
          <a:prstGeom prst="rect">
            <a:avLst/>
          </a:prstGeom>
          <a:noFill/>
        </p:spPr>
        <p:txBody>
          <a:bodyPr wrap="square">
            <a:spAutoFit/>
          </a:bodyPr>
          <a:lstStyle/>
          <a:p>
            <a:pPr algn="l"/>
            <a:r>
              <a:rPr sz="1100" b="0" i="0">
                <a:solidFill>
                  <a:srgbClr val="C6C6C6"/>
                </a:solidFill>
              </a:rPr>
              <a:t>20+ years of energy efficiency programmes
across Massachusetts &amp; New York State</a:t>
            </a:r>
          </a:p>
        </p:txBody>
      </p:sp>
      <p:sp>
        <p:nvSpPr>
          <p:cNvPr id="14" name="Rectangle 13"/>
          <p:cNvSpPr/>
          <p:nvPr/>
        </p:nvSpPr>
        <p:spPr>
          <a:xfrm>
            <a:off x="5669280" y="2240280"/>
            <a:ext cx="6217920" cy="18288"/>
          </a:xfrm>
          <a:prstGeom prst="rect">
            <a:avLst/>
          </a:prstGeom>
          <a:solidFill>
            <a:srgbClr val="CCEB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0" y="2359152"/>
            <a:ext cx="6217920" cy="274320"/>
          </a:xfrm>
          <a:prstGeom prst="rect">
            <a:avLst/>
          </a:prstGeom>
          <a:noFill/>
        </p:spPr>
        <p:txBody>
          <a:bodyPr wrap="square">
            <a:spAutoFit/>
          </a:bodyPr>
          <a:lstStyle/>
          <a:p>
            <a:pPr algn="l"/>
            <a:r>
              <a:rPr sz="1000" b="1" i="0">
                <a:solidFill>
                  <a:srgbClr val="CCEBD7"/>
                </a:solidFill>
              </a:rPr>
              <a:t>Application</a:t>
            </a:r>
          </a:p>
        </p:txBody>
      </p:sp>
      <p:sp>
        <p:nvSpPr>
          <p:cNvPr id="16" name="TextBox 15"/>
          <p:cNvSpPr txBox="1"/>
          <p:nvPr/>
        </p:nvSpPr>
        <p:spPr>
          <a:xfrm>
            <a:off x="5669280" y="2633472"/>
            <a:ext cx="6217920" cy="411480"/>
          </a:xfrm>
          <a:prstGeom prst="rect">
            <a:avLst/>
          </a:prstGeom>
          <a:noFill/>
        </p:spPr>
        <p:txBody>
          <a:bodyPr wrap="square">
            <a:spAutoFit/>
          </a:bodyPr>
          <a:lstStyle/>
          <a:p>
            <a:pPr algn="l"/>
            <a:r>
              <a:rPr sz="1600" b="1" i="0">
                <a:solidFill>
                  <a:srgbClr val="FFFFFF"/>
                </a:solidFill>
              </a:rPr>
              <a:t>Demand Side Management (DSM)</a:t>
            </a:r>
          </a:p>
        </p:txBody>
      </p:sp>
      <p:sp>
        <p:nvSpPr>
          <p:cNvPr id="17" name="TextBox 16"/>
          <p:cNvSpPr txBox="1"/>
          <p:nvPr/>
        </p:nvSpPr>
        <p:spPr>
          <a:xfrm>
            <a:off x="5669280" y="3063240"/>
            <a:ext cx="6217920" cy="707886"/>
          </a:xfrm>
          <a:prstGeom prst="rect">
            <a:avLst/>
          </a:prstGeom>
          <a:noFill/>
        </p:spPr>
        <p:txBody>
          <a:bodyPr wrap="square">
            <a:spAutoFit/>
          </a:bodyPr>
          <a:lstStyle/>
          <a:p>
            <a:pPr algn="l"/>
            <a:r>
              <a:rPr sz="1000" b="0" i="0" dirty="0">
                <a:solidFill>
                  <a:srgbClr val="C6C6C6"/>
                </a:solidFill>
              </a:rPr>
              <a:t>Web-based J2EE application managing energy
efficiency </a:t>
            </a:r>
            <a:r>
              <a:rPr sz="1000" b="0" i="0" dirty="0" err="1">
                <a:solidFill>
                  <a:srgbClr val="C6C6C6"/>
                </a:solidFill>
              </a:rPr>
              <a:t>programmes</a:t>
            </a:r>
            <a:r>
              <a:rPr sz="1000" b="0" i="0" dirty="0">
                <a:solidFill>
                  <a:srgbClr val="C6C6C6"/>
                </a:solidFill>
              </a:rPr>
              <a:t>: Large C&amp;I, SBS, Energy Wise,
Residential, AM</a:t>
            </a:r>
            <a:r>
              <a:rPr lang="en-IN" sz="1000" b="0" i="0" dirty="0">
                <a:solidFill>
                  <a:srgbClr val="C6C6C6"/>
                </a:solidFill>
              </a:rPr>
              <a:t>P</a:t>
            </a:r>
            <a:r>
              <a:rPr sz="1000" b="0" i="0" dirty="0">
                <a:solidFill>
                  <a:srgbClr val="C6C6C6"/>
                </a:solidFill>
              </a:rPr>
              <a:t>. Handles vendor payments, invoicing,
scheduling, construction tracking via SAP &amp; CSS.</a:t>
            </a:r>
          </a:p>
        </p:txBody>
      </p:sp>
      <p:sp>
        <p:nvSpPr>
          <p:cNvPr id="18" name="TextBox 17"/>
          <p:cNvSpPr txBox="1"/>
          <p:nvPr/>
        </p:nvSpPr>
        <p:spPr>
          <a:xfrm>
            <a:off x="5669280" y="4343400"/>
            <a:ext cx="2743200" cy="320040"/>
          </a:xfrm>
          <a:prstGeom prst="rect">
            <a:avLst/>
          </a:prstGeom>
          <a:noFill/>
        </p:spPr>
        <p:txBody>
          <a:bodyPr wrap="square">
            <a:spAutoFit/>
          </a:bodyPr>
          <a:lstStyle/>
          <a:p>
            <a:pPr algn="l"/>
            <a:r>
              <a:rPr sz="1000" b="1" i="0">
                <a:solidFill>
                  <a:srgbClr val="D0E2FF"/>
                </a:solidFill>
              </a:rPr>
              <a:t>AI Maturity Stage</a:t>
            </a:r>
          </a:p>
        </p:txBody>
      </p:sp>
      <p:sp>
        <p:nvSpPr>
          <p:cNvPr id="19" name="Rectangle 18"/>
          <p:cNvSpPr/>
          <p:nvPr/>
        </p:nvSpPr>
        <p:spPr>
          <a:xfrm>
            <a:off x="5669280" y="4663440"/>
            <a:ext cx="2743200" cy="777240"/>
          </a:xfrm>
          <a:prstGeom prst="rect">
            <a:avLst/>
          </a:prstGeom>
          <a:solidFill>
            <a:srgbClr val="6929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69280" y="4663440"/>
            <a:ext cx="2743200" cy="777240"/>
          </a:xfrm>
          <a:prstGeom prst="rect">
            <a:avLst/>
          </a:prstGeom>
          <a:noFill/>
        </p:spPr>
        <p:txBody>
          <a:bodyPr wrap="square">
            <a:spAutoFit/>
          </a:bodyPr>
          <a:lstStyle/>
          <a:p>
            <a:pPr algn="ctr"/>
            <a:r>
              <a:rPr sz="2200" b="1" i="0">
                <a:solidFill>
                  <a:srgbClr val="FFFFFF"/>
                </a:solidFill>
              </a:rPr>
              <a:t>DELEGATE</a:t>
            </a:r>
          </a:p>
        </p:txBody>
      </p:sp>
      <p:sp>
        <p:nvSpPr>
          <p:cNvPr id="21" name="TextBox 20"/>
          <p:cNvSpPr txBox="1"/>
          <p:nvPr/>
        </p:nvSpPr>
        <p:spPr>
          <a:xfrm>
            <a:off x="8549640" y="4663440"/>
            <a:ext cx="3291840" cy="777240"/>
          </a:xfrm>
          <a:prstGeom prst="rect">
            <a:avLst/>
          </a:prstGeom>
          <a:noFill/>
        </p:spPr>
        <p:txBody>
          <a:bodyPr wrap="square">
            <a:spAutoFit/>
          </a:bodyPr>
          <a:lstStyle/>
          <a:p>
            <a:pPr algn="l"/>
            <a:r>
              <a:rPr sz="900" b="0" i="0">
                <a:solidFill>
                  <a:srgbClr val="C6C6C6"/>
                </a:solidFill>
              </a:rPr>
              <a:t>Bob owns design &amp;
implementation.
Engineer reviews &amp; approves.</a:t>
            </a:r>
          </a:p>
        </p:txBody>
      </p:sp>
      <p:sp>
        <p:nvSpPr>
          <p:cNvPr id="22" name="Rectangle 21"/>
          <p:cNvSpPr/>
          <p:nvPr/>
        </p:nvSpPr>
        <p:spPr>
          <a:xfrm>
            <a:off x="5669280" y="5577840"/>
            <a:ext cx="6217920" cy="1005840"/>
          </a:xfrm>
          <a:prstGeom prst="rect">
            <a:avLst/>
          </a:prstGeom>
          <a:solidFill>
            <a:srgbClr val="39393A"/>
          </a:solidFill>
          <a:ln w="635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06440" y="5623560"/>
            <a:ext cx="6035040" cy="256032"/>
          </a:xfrm>
          <a:prstGeom prst="rect">
            <a:avLst/>
          </a:prstGeom>
          <a:noFill/>
        </p:spPr>
        <p:txBody>
          <a:bodyPr wrap="square">
            <a:spAutoFit/>
          </a:bodyPr>
          <a:lstStyle/>
          <a:p>
            <a:pPr algn="l"/>
            <a:r>
              <a:rPr sz="900" b="1" i="0">
                <a:solidFill>
                  <a:srgbClr val="D0E2FF"/>
                </a:solidFill>
              </a:rPr>
              <a:t>SCRIPT  [0:00 - 0:12]</a:t>
            </a:r>
          </a:p>
        </p:txBody>
      </p:sp>
      <p:sp>
        <p:nvSpPr>
          <p:cNvPr id="24" name="TextBox 23"/>
          <p:cNvSpPr txBox="1"/>
          <p:nvPr/>
        </p:nvSpPr>
        <p:spPr>
          <a:xfrm>
            <a:off x="5806440" y="5879592"/>
            <a:ext cx="6035040" cy="685800"/>
          </a:xfrm>
          <a:prstGeom prst="rect">
            <a:avLst/>
          </a:prstGeom>
          <a:noFill/>
        </p:spPr>
        <p:txBody>
          <a:bodyPr wrap="square">
            <a:spAutoFit/>
          </a:bodyPr>
          <a:lstStyle/>
          <a:p>
            <a:pPr algn="l"/>
            <a:r>
              <a:rPr sz="850" b="0" i="1">
                <a:solidFill>
                  <a:srgbClr val="E0E0E0"/>
                </a:solidFill>
              </a:rPr>
              <a:t>"Hi, I'm Althaf, a Technical Seller at IBM. Today I want to show you how IBM Bob helped National Grid build a future-ready data integration layer for their Demand Side Management application — and the exact numbers that prove it."</a:t>
            </a:r>
          </a:p>
        </p:txBody>
      </p:sp>
      <p:sp>
        <p:nvSpPr>
          <p:cNvPr id="25" name="Rectangle 24"/>
          <p:cNvSpPr/>
          <p:nvPr/>
        </p:nvSpPr>
        <p:spPr>
          <a:xfrm>
            <a:off x="0" y="6803136"/>
            <a:ext cx="12188952" cy="54864"/>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2880" y="6821424"/>
            <a:ext cx="11795760" cy="200055"/>
          </a:xfrm>
          <a:prstGeom prst="rect">
            <a:avLst/>
          </a:prstGeom>
          <a:noFill/>
        </p:spPr>
        <p:txBody>
          <a:bodyPr wrap="square">
            <a:spAutoFit/>
          </a:bodyPr>
          <a:lstStyle/>
          <a:p>
            <a:pPr algn="ctr"/>
            <a:r>
              <a:rPr sz="700" b="0" i="0" dirty="0">
                <a:solidFill>
                  <a:srgbClr val="FFFFFF"/>
                </a:solidFill>
              </a:rPr>
              <a:t>National Grid DSM  |  CDP Snowflake Loader  |  IBM Bob Level 3  |  Althaf P M  |  </a:t>
            </a:r>
            <a:r>
              <a:rPr lang="en-IN" sz="700" b="0" i="0" dirty="0">
                <a:solidFill>
                  <a:srgbClr val="FFFFFF"/>
                </a:solidFill>
              </a:rPr>
              <a:t>2026</a:t>
            </a:r>
            <a:endParaRPr sz="700" b="0" i="0"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256032"/>
            <a:ext cx="8229600" cy="475488"/>
          </a:xfrm>
          <a:prstGeom prst="rect">
            <a:avLst/>
          </a:prstGeom>
          <a:noFill/>
        </p:spPr>
        <p:txBody>
          <a:bodyPr wrap="square">
            <a:spAutoFit/>
          </a:bodyPr>
          <a:lstStyle/>
          <a:p>
            <a:pPr algn="l"/>
            <a:r>
              <a:rPr sz="2400" b="1" i="0">
                <a:solidFill>
                  <a:srgbClr val="006A2E"/>
                </a:solidFill>
              </a:rPr>
              <a:t>The Business Context</a:t>
            </a:r>
          </a:p>
        </p:txBody>
      </p:sp>
      <p:sp>
        <p:nvSpPr>
          <p:cNvPr id="4" name="TextBox 3"/>
          <p:cNvSpPr txBox="1"/>
          <p:nvPr/>
        </p:nvSpPr>
        <p:spPr>
          <a:xfrm>
            <a:off x="274320" y="749808"/>
            <a:ext cx="11430000" cy="320040"/>
          </a:xfrm>
          <a:prstGeom prst="rect">
            <a:avLst/>
          </a:prstGeom>
          <a:noFill/>
        </p:spPr>
        <p:txBody>
          <a:bodyPr wrap="square">
            <a:spAutoFit/>
          </a:bodyPr>
          <a:lstStyle/>
          <a:p>
            <a:pPr algn="l"/>
            <a:r>
              <a:rPr sz="1200" b="0" i="0">
                <a:solidFill>
                  <a:srgbClr val="525252"/>
                </a:solidFill>
              </a:rPr>
              <a:t>National Grid DSM — 20+ years of energy efficiency, now facing a major system migration</a:t>
            </a:r>
          </a:p>
        </p:txBody>
      </p:sp>
      <p:sp>
        <p:nvSpPr>
          <p:cNvPr id="5" name="Rectangle 4"/>
          <p:cNvSpPr/>
          <p:nvPr/>
        </p:nvSpPr>
        <p:spPr>
          <a:xfrm>
            <a:off x="182880" y="1097280"/>
            <a:ext cx="11795760" cy="18288"/>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188720"/>
            <a:ext cx="5394960" cy="4023360"/>
          </a:xfrm>
          <a:prstGeom prst="rect">
            <a:avLst/>
          </a:prstGeom>
          <a:solidFill>
            <a:srgbClr val="FFFFFF"/>
          </a:solidFill>
          <a:ln w="12700">
            <a:solidFill>
              <a:srgbClr val="006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 y="1188720"/>
            <a:ext cx="5394960" cy="384048"/>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16152"/>
            <a:ext cx="5212080" cy="347472"/>
          </a:xfrm>
          <a:prstGeom prst="rect">
            <a:avLst/>
          </a:prstGeom>
          <a:noFill/>
        </p:spPr>
        <p:txBody>
          <a:bodyPr wrap="square">
            <a:spAutoFit/>
          </a:bodyPr>
          <a:lstStyle/>
          <a:p>
            <a:pPr algn="l"/>
            <a:r>
              <a:rPr sz="1200" b="1" i="0">
                <a:solidFill>
                  <a:srgbClr val="FFFFFF"/>
                </a:solidFill>
              </a:rPr>
              <a:t>What DSM Manages</a:t>
            </a:r>
          </a:p>
        </p:txBody>
      </p:sp>
      <p:sp>
        <p:nvSpPr>
          <p:cNvPr id="9" name="Rectangle 8"/>
          <p:cNvSpPr/>
          <p:nvPr/>
        </p:nvSpPr>
        <p:spPr>
          <a:xfrm>
            <a:off x="347472" y="1691640"/>
            <a:ext cx="5157216" cy="749808"/>
          </a:xfrm>
          <a:prstGeom prst="rect">
            <a:avLst/>
          </a:prstGeom>
          <a:solidFill>
            <a:srgbClr val="CCEBD7"/>
          </a:solidFill>
          <a:ln w="6350">
            <a:solidFill>
              <a:srgbClr val="006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1728216"/>
            <a:ext cx="4937760" cy="274320"/>
          </a:xfrm>
          <a:prstGeom prst="rect">
            <a:avLst/>
          </a:prstGeom>
          <a:noFill/>
        </p:spPr>
        <p:txBody>
          <a:bodyPr wrap="square">
            <a:spAutoFit/>
          </a:bodyPr>
          <a:lstStyle/>
          <a:p>
            <a:pPr algn="l"/>
            <a:r>
              <a:rPr sz="1000" b="1" i="0">
                <a:solidFill>
                  <a:srgbClr val="006A2E"/>
                </a:solidFill>
              </a:rPr>
              <a:t>Large Commercial &amp; Industrial</a:t>
            </a:r>
          </a:p>
        </p:txBody>
      </p:sp>
      <p:sp>
        <p:nvSpPr>
          <p:cNvPr id="11" name="TextBox 10"/>
          <p:cNvSpPr txBox="1"/>
          <p:nvPr/>
        </p:nvSpPr>
        <p:spPr>
          <a:xfrm>
            <a:off x="475488" y="2002536"/>
            <a:ext cx="4937760" cy="411480"/>
          </a:xfrm>
          <a:prstGeom prst="rect">
            <a:avLst/>
          </a:prstGeom>
          <a:noFill/>
        </p:spPr>
        <p:txBody>
          <a:bodyPr wrap="square">
            <a:spAutoFit/>
          </a:bodyPr>
          <a:lstStyle/>
          <a:p>
            <a:pPr algn="l"/>
            <a:r>
              <a:rPr sz="900" b="0" i="0">
                <a:solidFill>
                  <a:srgbClr val="161616"/>
                </a:solidFill>
              </a:rPr>
              <a:t>Energy efficiency retrofits for large C&amp;I customers.
Tracking, workflow, vendor payments.</a:t>
            </a:r>
          </a:p>
        </p:txBody>
      </p:sp>
      <p:sp>
        <p:nvSpPr>
          <p:cNvPr id="12" name="Rectangle 11"/>
          <p:cNvSpPr/>
          <p:nvPr/>
        </p:nvSpPr>
        <p:spPr>
          <a:xfrm>
            <a:off x="347472" y="2560320"/>
            <a:ext cx="5157216" cy="749808"/>
          </a:xfrm>
          <a:prstGeom prst="rect">
            <a:avLst/>
          </a:prstGeom>
          <a:solidFill>
            <a:srgbClr val="CCEBD7"/>
          </a:solidFill>
          <a:ln w="6350">
            <a:solidFill>
              <a:srgbClr val="006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 y="2596896"/>
            <a:ext cx="4937760" cy="274320"/>
          </a:xfrm>
          <a:prstGeom prst="rect">
            <a:avLst/>
          </a:prstGeom>
          <a:noFill/>
        </p:spPr>
        <p:txBody>
          <a:bodyPr wrap="square">
            <a:spAutoFit/>
          </a:bodyPr>
          <a:lstStyle/>
          <a:p>
            <a:pPr algn="l"/>
            <a:r>
              <a:rPr sz="1000" b="1" i="0">
                <a:solidFill>
                  <a:srgbClr val="006A2E"/>
                </a:solidFill>
              </a:rPr>
              <a:t>SBS (Small Business Solutions)</a:t>
            </a:r>
          </a:p>
        </p:txBody>
      </p:sp>
      <p:sp>
        <p:nvSpPr>
          <p:cNvPr id="14" name="TextBox 13"/>
          <p:cNvSpPr txBox="1"/>
          <p:nvPr/>
        </p:nvSpPr>
        <p:spPr>
          <a:xfrm>
            <a:off x="475488" y="2871215"/>
            <a:ext cx="4937760" cy="411480"/>
          </a:xfrm>
          <a:prstGeom prst="rect">
            <a:avLst/>
          </a:prstGeom>
          <a:noFill/>
        </p:spPr>
        <p:txBody>
          <a:bodyPr wrap="square">
            <a:spAutoFit/>
          </a:bodyPr>
          <a:lstStyle/>
          <a:p>
            <a:pPr algn="l"/>
            <a:r>
              <a:rPr sz="900" b="0" i="0">
                <a:solidFill>
                  <a:srgbClr val="161616"/>
                </a:solidFill>
              </a:rPr>
              <a:t>Programme delivery for small businesses.
Scheduling, invoicing, construction tracking.</a:t>
            </a:r>
          </a:p>
        </p:txBody>
      </p:sp>
      <p:sp>
        <p:nvSpPr>
          <p:cNvPr id="15" name="Rectangle 14"/>
          <p:cNvSpPr/>
          <p:nvPr/>
        </p:nvSpPr>
        <p:spPr>
          <a:xfrm>
            <a:off x="347472" y="3429000"/>
            <a:ext cx="5157216" cy="749808"/>
          </a:xfrm>
          <a:prstGeom prst="rect">
            <a:avLst/>
          </a:prstGeom>
          <a:solidFill>
            <a:srgbClr val="CCEBD7"/>
          </a:solidFill>
          <a:ln w="6350">
            <a:solidFill>
              <a:srgbClr val="006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8" y="3465576"/>
            <a:ext cx="4937760" cy="274320"/>
          </a:xfrm>
          <a:prstGeom prst="rect">
            <a:avLst/>
          </a:prstGeom>
          <a:noFill/>
        </p:spPr>
        <p:txBody>
          <a:bodyPr wrap="square">
            <a:spAutoFit/>
          </a:bodyPr>
          <a:lstStyle/>
          <a:p>
            <a:pPr algn="l"/>
            <a:r>
              <a:rPr sz="1000" b="1" i="0">
                <a:solidFill>
                  <a:srgbClr val="006A2E"/>
                </a:solidFill>
              </a:rPr>
              <a:t>Energy Wise / Residential</a:t>
            </a:r>
          </a:p>
        </p:txBody>
      </p:sp>
      <p:sp>
        <p:nvSpPr>
          <p:cNvPr id="17" name="TextBox 16"/>
          <p:cNvSpPr txBox="1"/>
          <p:nvPr/>
        </p:nvSpPr>
        <p:spPr>
          <a:xfrm>
            <a:off x="475488" y="3739896"/>
            <a:ext cx="4937760" cy="411480"/>
          </a:xfrm>
          <a:prstGeom prst="rect">
            <a:avLst/>
          </a:prstGeom>
          <a:noFill/>
        </p:spPr>
        <p:txBody>
          <a:bodyPr wrap="square">
            <a:spAutoFit/>
          </a:bodyPr>
          <a:lstStyle/>
          <a:p>
            <a:pPr algn="l"/>
            <a:r>
              <a:rPr sz="900" b="0" i="0">
                <a:solidFill>
                  <a:srgbClr val="161616"/>
                </a:solidFill>
              </a:rPr>
              <a:t>Home energy efficiency programmes.
Lighting, HVAC upgrades, rebate management.</a:t>
            </a:r>
          </a:p>
        </p:txBody>
      </p:sp>
      <p:sp>
        <p:nvSpPr>
          <p:cNvPr id="18" name="Rectangle 17"/>
          <p:cNvSpPr/>
          <p:nvPr/>
        </p:nvSpPr>
        <p:spPr>
          <a:xfrm>
            <a:off x="347472" y="4297679"/>
            <a:ext cx="5157216" cy="749808"/>
          </a:xfrm>
          <a:prstGeom prst="rect">
            <a:avLst/>
          </a:prstGeom>
          <a:solidFill>
            <a:srgbClr val="CCEBD7"/>
          </a:solidFill>
          <a:ln w="6350">
            <a:solidFill>
              <a:srgbClr val="006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5488" y="4334255"/>
            <a:ext cx="4937760" cy="246221"/>
          </a:xfrm>
          <a:prstGeom prst="rect">
            <a:avLst/>
          </a:prstGeom>
          <a:noFill/>
        </p:spPr>
        <p:txBody>
          <a:bodyPr wrap="square">
            <a:spAutoFit/>
          </a:bodyPr>
          <a:lstStyle/>
          <a:p>
            <a:pPr algn="l"/>
            <a:r>
              <a:rPr sz="1000" b="1" i="0" dirty="0">
                <a:solidFill>
                  <a:srgbClr val="006A2E"/>
                </a:solidFill>
              </a:rPr>
              <a:t>AM</a:t>
            </a:r>
            <a:r>
              <a:rPr lang="en-IN" sz="1000" b="1" i="0" dirty="0">
                <a:solidFill>
                  <a:srgbClr val="006A2E"/>
                </a:solidFill>
              </a:rPr>
              <a:t>P</a:t>
            </a:r>
            <a:r>
              <a:rPr sz="1000" b="1" i="0" dirty="0">
                <a:solidFill>
                  <a:srgbClr val="006A2E"/>
                </a:solidFill>
              </a:rPr>
              <a:t> </a:t>
            </a:r>
            <a:r>
              <a:rPr lang="en-IN" sz="1000" b="1" i="0" dirty="0">
                <a:solidFill>
                  <a:srgbClr val="006A2E"/>
                </a:solidFill>
              </a:rPr>
              <a:t>(Appliance </a:t>
            </a:r>
            <a:r>
              <a:rPr sz="1000" b="1" i="0" dirty="0">
                <a:solidFill>
                  <a:srgbClr val="006A2E"/>
                </a:solidFill>
              </a:rPr>
              <a:t>Management</a:t>
            </a:r>
            <a:r>
              <a:rPr lang="en-IN" sz="1000" b="1" i="0" dirty="0">
                <a:solidFill>
                  <a:srgbClr val="006A2E"/>
                </a:solidFill>
              </a:rPr>
              <a:t> Program</a:t>
            </a:r>
            <a:r>
              <a:rPr sz="1000" b="1" i="0" dirty="0">
                <a:solidFill>
                  <a:srgbClr val="006A2E"/>
                </a:solidFill>
              </a:rPr>
              <a:t>)</a:t>
            </a:r>
          </a:p>
        </p:txBody>
      </p:sp>
      <p:sp>
        <p:nvSpPr>
          <p:cNvPr id="20" name="TextBox 19"/>
          <p:cNvSpPr txBox="1"/>
          <p:nvPr/>
        </p:nvSpPr>
        <p:spPr>
          <a:xfrm>
            <a:off x="475488" y="4608575"/>
            <a:ext cx="4937760" cy="369332"/>
          </a:xfrm>
          <a:prstGeom prst="rect">
            <a:avLst/>
          </a:prstGeom>
          <a:noFill/>
        </p:spPr>
        <p:txBody>
          <a:bodyPr wrap="square">
            <a:spAutoFit/>
          </a:bodyPr>
          <a:lstStyle/>
          <a:p>
            <a:pPr algn="l"/>
            <a:r>
              <a:rPr lang="en-IN" sz="900" b="0" i="0" dirty="0">
                <a:solidFill>
                  <a:srgbClr val="161616"/>
                </a:solidFill>
              </a:rPr>
              <a:t>Low Income programs, </a:t>
            </a:r>
          </a:p>
          <a:p>
            <a:pPr algn="l"/>
            <a:r>
              <a:rPr lang="en-IN" sz="900" dirty="0">
                <a:solidFill>
                  <a:srgbClr val="161616"/>
                </a:solidFill>
              </a:rPr>
              <a:t>A</a:t>
            </a:r>
            <a:r>
              <a:rPr lang="en-IN" sz="900" b="0" i="0" dirty="0">
                <a:solidFill>
                  <a:srgbClr val="161616"/>
                </a:solidFill>
              </a:rPr>
              <a:t>ppliance and service management</a:t>
            </a:r>
            <a:endParaRPr sz="900" b="0" i="0" dirty="0">
              <a:solidFill>
                <a:srgbClr val="161616"/>
              </a:solidFill>
            </a:endParaRPr>
          </a:p>
        </p:txBody>
      </p:sp>
      <p:sp>
        <p:nvSpPr>
          <p:cNvPr id="21" name="Rectangle 20"/>
          <p:cNvSpPr/>
          <p:nvPr/>
        </p:nvSpPr>
        <p:spPr>
          <a:xfrm>
            <a:off x="5989320" y="1188720"/>
            <a:ext cx="5943600" cy="4023360"/>
          </a:xfrm>
          <a:prstGeom prst="rect">
            <a:avLst/>
          </a:prstGeom>
          <a:solidFill>
            <a:srgbClr val="FFFFFF"/>
          </a:solidFill>
          <a:ln w="12700">
            <a:solidFill>
              <a:srgbClr val="004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989320" y="1188720"/>
            <a:ext cx="5943600" cy="384048"/>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26480" y="1216152"/>
            <a:ext cx="5760720" cy="347472"/>
          </a:xfrm>
          <a:prstGeom prst="rect">
            <a:avLst/>
          </a:prstGeom>
          <a:noFill/>
        </p:spPr>
        <p:txBody>
          <a:bodyPr wrap="square">
            <a:spAutoFit/>
          </a:bodyPr>
          <a:lstStyle/>
          <a:p>
            <a:pPr algn="l"/>
            <a:r>
              <a:rPr sz="1200" b="1" i="0">
                <a:solidFill>
                  <a:srgbClr val="FFFFFF"/>
                </a:solidFill>
              </a:rPr>
              <a:t>The Migration Challenge</a:t>
            </a:r>
          </a:p>
        </p:txBody>
      </p:sp>
      <p:sp>
        <p:nvSpPr>
          <p:cNvPr id="24" name="TextBox 23"/>
          <p:cNvSpPr txBox="1"/>
          <p:nvPr/>
        </p:nvSpPr>
        <p:spPr>
          <a:xfrm>
            <a:off x="6126480" y="1719072"/>
            <a:ext cx="5669280" cy="274320"/>
          </a:xfrm>
          <a:prstGeom prst="rect">
            <a:avLst/>
          </a:prstGeom>
          <a:noFill/>
        </p:spPr>
        <p:txBody>
          <a:bodyPr wrap="square">
            <a:spAutoFit/>
          </a:bodyPr>
          <a:lstStyle/>
          <a:p>
            <a:pPr algn="l"/>
            <a:r>
              <a:rPr sz="1000" b="1" i="0">
                <a:solidFill>
                  <a:srgbClr val="0043CE"/>
                </a:solidFill>
              </a:rPr>
              <a:t>Current State</a:t>
            </a:r>
          </a:p>
        </p:txBody>
      </p:sp>
      <p:sp>
        <p:nvSpPr>
          <p:cNvPr id="25" name="Rectangle 24"/>
          <p:cNvSpPr/>
          <p:nvPr/>
        </p:nvSpPr>
        <p:spPr>
          <a:xfrm>
            <a:off x="6126480" y="2011680"/>
            <a:ext cx="5669280" cy="685800"/>
          </a:xfrm>
          <a:prstGeom prst="rect">
            <a:avLst/>
          </a:prstGeom>
          <a:solidFill>
            <a:srgbClr val="D0E2FF"/>
          </a:solidFill>
          <a:ln w="6350">
            <a:solidFill>
              <a:srgbClr val="004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0" y="2075688"/>
            <a:ext cx="5486400" cy="502920"/>
          </a:xfrm>
          <a:prstGeom prst="rect">
            <a:avLst/>
          </a:prstGeom>
          <a:noFill/>
        </p:spPr>
        <p:txBody>
          <a:bodyPr wrap="square">
            <a:spAutoFit/>
          </a:bodyPr>
          <a:lstStyle/>
          <a:p>
            <a:pPr algn="l"/>
            <a:r>
              <a:rPr sz="950" b="0" i="0">
                <a:solidFill>
                  <a:srgbClr val="161616"/>
                </a:solidFill>
              </a:rPr>
              <a:t>CSS Billing System  →  ETL (DataStage/Informatica)  →  CDI Database  →  DSM</a:t>
            </a:r>
          </a:p>
        </p:txBody>
      </p:sp>
      <p:sp>
        <p:nvSpPr>
          <p:cNvPr id="27" name="TextBox 26"/>
          <p:cNvSpPr txBox="1"/>
          <p:nvPr/>
        </p:nvSpPr>
        <p:spPr>
          <a:xfrm>
            <a:off x="6126480" y="2834640"/>
            <a:ext cx="5669280" cy="274320"/>
          </a:xfrm>
          <a:prstGeom prst="rect">
            <a:avLst/>
          </a:prstGeom>
          <a:noFill/>
        </p:spPr>
        <p:txBody>
          <a:bodyPr wrap="square">
            <a:spAutoFit/>
          </a:bodyPr>
          <a:lstStyle/>
          <a:p>
            <a:pPr algn="l"/>
            <a:r>
              <a:rPr sz="1000" b="1" i="0">
                <a:solidFill>
                  <a:srgbClr val="198038"/>
                </a:solidFill>
              </a:rPr>
              <a:t>Future State (Planned)</a:t>
            </a:r>
          </a:p>
        </p:txBody>
      </p:sp>
      <p:sp>
        <p:nvSpPr>
          <p:cNvPr id="28" name="Rectangle 27"/>
          <p:cNvSpPr/>
          <p:nvPr/>
        </p:nvSpPr>
        <p:spPr>
          <a:xfrm>
            <a:off x="6126480" y="3127248"/>
            <a:ext cx="5669280" cy="685800"/>
          </a:xfrm>
          <a:prstGeom prst="rect">
            <a:avLst/>
          </a:prstGeom>
          <a:solidFill>
            <a:srgbClr val="DEF7E9"/>
          </a:solidFill>
          <a:ln w="6350">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17920" y="3191256"/>
            <a:ext cx="5486400" cy="502920"/>
          </a:xfrm>
          <a:prstGeom prst="rect">
            <a:avLst/>
          </a:prstGeom>
          <a:noFill/>
        </p:spPr>
        <p:txBody>
          <a:bodyPr wrap="square">
            <a:spAutoFit/>
          </a:bodyPr>
          <a:lstStyle/>
          <a:p>
            <a:pPr algn="l"/>
            <a:r>
              <a:rPr sz="950" b="0" i="0">
                <a:solidFill>
                  <a:srgbClr val="161616"/>
                </a:solidFill>
              </a:rPr>
              <a:t>Kraken System  →  CDP Snowflake  →  NEW LOADER  →  DSM Oracle Tables</a:t>
            </a:r>
          </a:p>
        </p:txBody>
      </p:sp>
      <p:sp>
        <p:nvSpPr>
          <p:cNvPr id="30" name="TextBox 29"/>
          <p:cNvSpPr txBox="1"/>
          <p:nvPr/>
        </p:nvSpPr>
        <p:spPr>
          <a:xfrm>
            <a:off x="6126480" y="3931920"/>
            <a:ext cx="5669280" cy="320040"/>
          </a:xfrm>
          <a:prstGeom prst="rect">
            <a:avLst/>
          </a:prstGeom>
          <a:noFill/>
        </p:spPr>
        <p:txBody>
          <a:bodyPr wrap="square">
            <a:spAutoFit/>
          </a:bodyPr>
          <a:lstStyle/>
          <a:p>
            <a:pPr algn="l"/>
            <a:r>
              <a:rPr sz="1000" b="1" i="0">
                <a:solidFill>
                  <a:srgbClr val="6929D0"/>
                </a:solidFill>
              </a:rPr>
              <a:t>The Prototype We Built with IBM Bob</a:t>
            </a:r>
          </a:p>
        </p:txBody>
      </p:sp>
      <p:sp>
        <p:nvSpPr>
          <p:cNvPr id="31" name="Rectangle 30"/>
          <p:cNvSpPr/>
          <p:nvPr/>
        </p:nvSpPr>
        <p:spPr>
          <a:xfrm>
            <a:off x="6126480" y="4251960"/>
            <a:ext cx="5669280" cy="749808"/>
          </a:xfrm>
          <a:prstGeom prst="rect">
            <a:avLst/>
          </a:prstGeom>
          <a:solidFill>
            <a:srgbClr val="EDE9FE"/>
          </a:solidFill>
          <a:ln w="9525">
            <a:solidFill>
              <a:srgbClr val="6929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0" y="4297680"/>
            <a:ext cx="5486400" cy="685800"/>
          </a:xfrm>
          <a:prstGeom prst="rect">
            <a:avLst/>
          </a:prstGeom>
          <a:noFill/>
        </p:spPr>
        <p:txBody>
          <a:bodyPr wrap="square">
            <a:spAutoFit/>
          </a:bodyPr>
          <a:lstStyle/>
          <a:p>
            <a:pPr algn="l"/>
            <a:r>
              <a:rPr sz="950" b="0" i="0">
                <a:solidFill>
                  <a:srgbClr val="161616"/>
                </a:solidFill>
              </a:rPr>
              <a:t>Read customer data from CDP Snowflake and load into
DSM Oracle tables — replacing the CDI dependency,
ready for the CSS → Kraken migration.</a:t>
            </a:r>
          </a:p>
        </p:txBody>
      </p:sp>
      <p:sp>
        <p:nvSpPr>
          <p:cNvPr id="33" name="Rectangle 32"/>
          <p:cNvSpPr/>
          <p:nvPr/>
        </p:nvSpPr>
        <p:spPr>
          <a:xfrm>
            <a:off x="228600" y="5321808"/>
            <a:ext cx="11750040" cy="566928"/>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5367528"/>
            <a:ext cx="11521440" cy="502920"/>
          </a:xfrm>
          <a:prstGeom prst="rect">
            <a:avLst/>
          </a:prstGeom>
          <a:noFill/>
        </p:spPr>
        <p:txBody>
          <a:bodyPr wrap="square">
            <a:spAutoFit/>
          </a:bodyPr>
          <a:lstStyle/>
          <a:p>
            <a:pPr algn="ctr"/>
            <a:r>
              <a:rPr sz="900" b="0" i="0">
                <a:solidFill>
                  <a:srgbClr val="FFFFFF"/>
                </a:solidFill>
              </a:rPr>
              <a:t>DSM serves MA &amp; NY regulated energy efficiency programmes  ·  Connected to SAP, CSS, LDAP, Business Objects  ·  Millions of dollars in vendor payments &amp; customer rebates annually</a:t>
            </a:r>
          </a:p>
        </p:txBody>
      </p:sp>
      <p:sp>
        <p:nvSpPr>
          <p:cNvPr id="35" name="Rectangle 34"/>
          <p:cNvSpPr/>
          <p:nvPr/>
        </p:nvSpPr>
        <p:spPr>
          <a:xfrm>
            <a:off x="228600" y="6291072"/>
            <a:ext cx="11750040" cy="347472"/>
          </a:xfrm>
          <a:prstGeom prst="rect">
            <a:avLst/>
          </a:prstGeom>
          <a:solidFill>
            <a:srgbClr val="39393A"/>
          </a:solidFill>
          <a:ln w="635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6309360"/>
            <a:ext cx="11521440" cy="320040"/>
          </a:xfrm>
          <a:prstGeom prst="rect">
            <a:avLst/>
          </a:prstGeom>
          <a:noFill/>
        </p:spPr>
        <p:txBody>
          <a:bodyPr wrap="square">
            <a:spAutoFit/>
          </a:bodyPr>
          <a:lstStyle/>
          <a:p>
            <a:pPr algn="l"/>
            <a:r>
              <a:rPr sz="800" b="0" i="1">
                <a:solidFill>
                  <a:srgbClr val="C6C6C6"/>
                </a:solidFill>
              </a:rPr>
              <a:t>SCRIPT [0:12-0:30]  "National Grid has run energy efficiency programmes for 20+ years across MA and NY. Their DSM application manages the full workflow — from vendor payments to regulatory reporting. The challenge: CSS, their billing system, is being replaced by Kraken. DSM needs a new data feed from CDP Snowflake. That is what we built with IBM Bob."</a:t>
            </a:r>
          </a:p>
        </p:txBody>
      </p:sp>
      <p:sp>
        <p:nvSpPr>
          <p:cNvPr id="37" name="Rectangle 36"/>
          <p:cNvSpPr/>
          <p:nvPr/>
        </p:nvSpPr>
        <p:spPr>
          <a:xfrm>
            <a:off x="0" y="6803136"/>
            <a:ext cx="12188952" cy="54864"/>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2880" y="6821424"/>
            <a:ext cx="11795760" cy="200055"/>
          </a:xfrm>
          <a:prstGeom prst="rect">
            <a:avLst/>
          </a:prstGeom>
          <a:noFill/>
        </p:spPr>
        <p:txBody>
          <a:bodyPr wrap="square">
            <a:spAutoFit/>
          </a:bodyPr>
          <a:lstStyle/>
          <a:p>
            <a:pPr algn="ctr"/>
            <a:r>
              <a:rPr sz="700" b="0" i="0" dirty="0">
                <a:solidFill>
                  <a:srgbClr val="FFFFFF"/>
                </a:solidFill>
              </a:rPr>
              <a:t>National Grid DSM  |  CDP Snowflake Loader  |  IBM Bob Level 3  |  Althaf P M  |  </a:t>
            </a:r>
            <a:r>
              <a:rPr lang="en-IN" sz="700" b="0" i="0" dirty="0">
                <a:solidFill>
                  <a:srgbClr val="FFFFFF"/>
                </a:solidFill>
              </a:rPr>
              <a:t>2026</a:t>
            </a:r>
            <a:endParaRPr sz="700" b="0" i="0"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256032"/>
            <a:ext cx="9144000" cy="475488"/>
          </a:xfrm>
          <a:prstGeom prst="rect">
            <a:avLst/>
          </a:prstGeom>
          <a:noFill/>
        </p:spPr>
        <p:txBody>
          <a:bodyPr wrap="square">
            <a:spAutoFit/>
          </a:bodyPr>
          <a:lstStyle/>
          <a:p>
            <a:pPr algn="l"/>
            <a:r>
              <a:rPr sz="2400" b="1" i="0">
                <a:solidFill>
                  <a:srgbClr val="DA1E28"/>
                </a:solidFill>
              </a:rPr>
              <a:t>Without IBM Bob — The Manual Approach</a:t>
            </a:r>
          </a:p>
        </p:txBody>
      </p:sp>
      <p:sp>
        <p:nvSpPr>
          <p:cNvPr id="4" name="TextBox 3"/>
          <p:cNvSpPr txBox="1"/>
          <p:nvPr/>
        </p:nvSpPr>
        <p:spPr>
          <a:xfrm>
            <a:off x="274320" y="749808"/>
            <a:ext cx="10972800" cy="320040"/>
          </a:xfrm>
          <a:prstGeom prst="rect">
            <a:avLst/>
          </a:prstGeom>
          <a:noFill/>
        </p:spPr>
        <p:txBody>
          <a:bodyPr wrap="square">
            <a:spAutoFit/>
          </a:bodyPr>
          <a:lstStyle/>
          <a:p>
            <a:pPr algn="l"/>
            <a:r>
              <a:rPr sz="1200" b="0" i="0">
                <a:solidFill>
                  <a:srgbClr val="525252"/>
                </a:solidFill>
              </a:rPr>
              <a:t>How this Snowflake → DSM loader would have been built traditionally</a:t>
            </a:r>
          </a:p>
        </p:txBody>
      </p:sp>
      <p:sp>
        <p:nvSpPr>
          <p:cNvPr id="5" name="Rectangle 4"/>
          <p:cNvSpPr/>
          <p:nvPr/>
        </p:nvSpPr>
        <p:spPr>
          <a:xfrm>
            <a:off x="182880" y="1097280"/>
            <a:ext cx="11795760" cy="18288"/>
          </a:xfrm>
          <a:prstGeom prst="rect">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207008"/>
            <a:ext cx="3703320" cy="1783080"/>
          </a:xfrm>
          <a:prstGeom prst="rect">
            <a:avLst/>
          </a:prstGeom>
          <a:solidFill>
            <a:srgbClr val="FFD7D9"/>
          </a:solidFill>
          <a:ln w="9525">
            <a:solidFill>
              <a:srgbClr val="DA1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38328" y="1280160"/>
            <a:ext cx="3493008" cy="411480"/>
          </a:xfrm>
          <a:prstGeom prst="rect">
            <a:avLst/>
          </a:prstGeom>
          <a:noFill/>
        </p:spPr>
        <p:txBody>
          <a:bodyPr wrap="square">
            <a:spAutoFit/>
          </a:bodyPr>
          <a:lstStyle/>
          <a:p>
            <a:pPr algn="l"/>
            <a:r>
              <a:rPr sz="1050" b="1" i="0">
                <a:solidFill>
                  <a:srgbClr val="DA1E28"/>
                </a:solidFill>
              </a:rPr>
              <a:t>Requirements &amp;
Mapping Analysis</a:t>
            </a:r>
          </a:p>
        </p:txBody>
      </p:sp>
      <p:sp>
        <p:nvSpPr>
          <p:cNvPr id="8" name="TextBox 7"/>
          <p:cNvSpPr txBox="1"/>
          <p:nvPr/>
        </p:nvSpPr>
        <p:spPr>
          <a:xfrm>
            <a:off x="338328" y="1700784"/>
            <a:ext cx="3493008" cy="1188720"/>
          </a:xfrm>
          <a:prstGeom prst="rect">
            <a:avLst/>
          </a:prstGeom>
          <a:noFill/>
        </p:spPr>
        <p:txBody>
          <a:bodyPr wrap="square">
            <a:spAutoFit/>
          </a:bodyPr>
          <a:lstStyle/>
          <a:p>
            <a:pPr algn="l"/>
            <a:r>
              <a:rPr sz="900" b="0" i="0">
                <a:solidFill>
                  <a:srgbClr val="161616"/>
                </a:solidFill>
              </a:rPr>
              <a:t>3-4 days: interview DSM team, reverse-engineer CDI schema, manually document Snowflake-to-DSM column mappings in spreadsheets. No traceability to code.</a:t>
            </a:r>
          </a:p>
        </p:txBody>
      </p:sp>
      <p:sp>
        <p:nvSpPr>
          <p:cNvPr id="9" name="Rectangle 8"/>
          <p:cNvSpPr/>
          <p:nvPr/>
        </p:nvSpPr>
        <p:spPr>
          <a:xfrm>
            <a:off x="4160520" y="1207008"/>
            <a:ext cx="3703320" cy="1783080"/>
          </a:xfrm>
          <a:prstGeom prst="rect">
            <a:avLst/>
          </a:prstGeom>
          <a:solidFill>
            <a:srgbClr val="FFD7D9"/>
          </a:solidFill>
          <a:ln w="9525">
            <a:solidFill>
              <a:srgbClr val="DA1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70248" y="1280160"/>
            <a:ext cx="3493008" cy="411480"/>
          </a:xfrm>
          <a:prstGeom prst="rect">
            <a:avLst/>
          </a:prstGeom>
          <a:noFill/>
        </p:spPr>
        <p:txBody>
          <a:bodyPr wrap="square">
            <a:spAutoFit/>
          </a:bodyPr>
          <a:lstStyle/>
          <a:p>
            <a:pPr algn="l"/>
            <a:r>
              <a:rPr sz="1050" b="1" i="0">
                <a:solidFill>
                  <a:srgbClr val="DA1E28"/>
                </a:solidFill>
              </a:rPr>
              <a:t>Schema &amp;
DDL Design</a:t>
            </a:r>
          </a:p>
        </p:txBody>
      </p:sp>
      <p:sp>
        <p:nvSpPr>
          <p:cNvPr id="11" name="TextBox 10"/>
          <p:cNvSpPr txBox="1"/>
          <p:nvPr/>
        </p:nvSpPr>
        <p:spPr>
          <a:xfrm>
            <a:off x="4270248" y="1700784"/>
            <a:ext cx="3493008" cy="1188720"/>
          </a:xfrm>
          <a:prstGeom prst="rect">
            <a:avLst/>
          </a:prstGeom>
          <a:noFill/>
        </p:spPr>
        <p:txBody>
          <a:bodyPr wrap="square">
            <a:spAutoFit/>
          </a:bodyPr>
          <a:lstStyle/>
          <a:p>
            <a:pPr algn="l"/>
            <a:r>
              <a:rPr sz="900" b="0" i="0">
                <a:solidFill>
                  <a:srgbClr val="161616"/>
                </a:solidFill>
              </a:rPr>
              <a:t>2-3 days: hand-write Oracle DDL for staging/target tables, Flyway migrations. Prone to missing indexes, CHECK constraints. Environment drift across dev/test/prod.</a:t>
            </a:r>
          </a:p>
        </p:txBody>
      </p:sp>
      <p:sp>
        <p:nvSpPr>
          <p:cNvPr id="12" name="Rectangle 11"/>
          <p:cNvSpPr/>
          <p:nvPr/>
        </p:nvSpPr>
        <p:spPr>
          <a:xfrm>
            <a:off x="8092440" y="1207008"/>
            <a:ext cx="3703320" cy="1783080"/>
          </a:xfrm>
          <a:prstGeom prst="rect">
            <a:avLst/>
          </a:prstGeom>
          <a:solidFill>
            <a:srgbClr val="FFD7D9"/>
          </a:solidFill>
          <a:ln w="9525">
            <a:solidFill>
              <a:srgbClr val="DA1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02167" y="1280160"/>
            <a:ext cx="3493008" cy="411480"/>
          </a:xfrm>
          <a:prstGeom prst="rect">
            <a:avLst/>
          </a:prstGeom>
          <a:noFill/>
        </p:spPr>
        <p:txBody>
          <a:bodyPr wrap="square">
            <a:spAutoFit/>
          </a:bodyPr>
          <a:lstStyle/>
          <a:p>
            <a:pPr algn="l"/>
            <a:r>
              <a:rPr sz="1050" b="1" i="0">
                <a:solidFill>
                  <a:srgbClr val="DA1E28"/>
                </a:solidFill>
              </a:rPr>
              <a:t>ETL Pipeline
Development</a:t>
            </a:r>
          </a:p>
        </p:txBody>
      </p:sp>
      <p:sp>
        <p:nvSpPr>
          <p:cNvPr id="14" name="TextBox 13"/>
          <p:cNvSpPr txBox="1"/>
          <p:nvPr/>
        </p:nvSpPr>
        <p:spPr>
          <a:xfrm>
            <a:off x="8202167" y="1700784"/>
            <a:ext cx="3493008" cy="1188720"/>
          </a:xfrm>
          <a:prstGeom prst="rect">
            <a:avLst/>
          </a:prstGeom>
          <a:noFill/>
        </p:spPr>
        <p:txBody>
          <a:bodyPr wrap="square">
            <a:spAutoFit/>
          </a:bodyPr>
          <a:lstStyle/>
          <a:p>
            <a:pPr algn="l"/>
            <a:r>
              <a:rPr sz="900" b="0" i="0">
                <a:solidFill>
                  <a:srgbClr val="161616"/>
                </a:solidFill>
              </a:rPr>
              <a:t>10-14 days: build Spring Batch readers (Snowflake JDBC), processors (transformation logic per entity), writers (Oracle MERGE), watermark strategy, skip/retry policy — all from scratch.</a:t>
            </a:r>
          </a:p>
        </p:txBody>
      </p:sp>
      <p:sp>
        <p:nvSpPr>
          <p:cNvPr id="15" name="Rectangle 14"/>
          <p:cNvSpPr/>
          <p:nvPr/>
        </p:nvSpPr>
        <p:spPr>
          <a:xfrm>
            <a:off x="228600" y="3145536"/>
            <a:ext cx="3703320" cy="1783080"/>
          </a:xfrm>
          <a:prstGeom prst="rect">
            <a:avLst/>
          </a:prstGeom>
          <a:solidFill>
            <a:srgbClr val="FFD7D9"/>
          </a:solidFill>
          <a:ln w="9525">
            <a:solidFill>
              <a:srgbClr val="DA1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3218688"/>
            <a:ext cx="3493008" cy="411480"/>
          </a:xfrm>
          <a:prstGeom prst="rect">
            <a:avLst/>
          </a:prstGeom>
          <a:noFill/>
        </p:spPr>
        <p:txBody>
          <a:bodyPr wrap="square">
            <a:spAutoFit/>
          </a:bodyPr>
          <a:lstStyle/>
          <a:p>
            <a:pPr algn="l"/>
            <a:r>
              <a:rPr sz="1050" b="1" i="0">
                <a:solidFill>
                  <a:srgbClr val="DA1E28"/>
                </a:solidFill>
              </a:rPr>
              <a:t>Snowflake
Provisioning</a:t>
            </a:r>
          </a:p>
        </p:txBody>
      </p:sp>
      <p:sp>
        <p:nvSpPr>
          <p:cNvPr id="17" name="TextBox 16"/>
          <p:cNvSpPr txBox="1"/>
          <p:nvPr/>
        </p:nvSpPr>
        <p:spPr>
          <a:xfrm>
            <a:off x="338328" y="3639312"/>
            <a:ext cx="3493008" cy="1188720"/>
          </a:xfrm>
          <a:prstGeom prst="rect">
            <a:avLst/>
          </a:prstGeom>
          <a:noFill/>
        </p:spPr>
        <p:txBody>
          <a:bodyPr wrap="square">
            <a:spAutoFit/>
          </a:bodyPr>
          <a:lstStyle/>
          <a:p>
            <a:pPr algn="l"/>
            <a:r>
              <a:rPr sz="900" b="0" i="0">
                <a:solidFill>
                  <a:srgbClr val="161616"/>
                </a:solidFill>
              </a:rPr>
              <a:t>3-4 days: manual SQL scripts with no pre-flight safety checks, no idempotent re-run guarantee. Errors on partial failure require manual cleanup.</a:t>
            </a:r>
          </a:p>
        </p:txBody>
      </p:sp>
      <p:sp>
        <p:nvSpPr>
          <p:cNvPr id="18" name="Rectangle 17"/>
          <p:cNvSpPr/>
          <p:nvPr/>
        </p:nvSpPr>
        <p:spPr>
          <a:xfrm>
            <a:off x="4160520" y="3145536"/>
            <a:ext cx="3703320" cy="1783080"/>
          </a:xfrm>
          <a:prstGeom prst="rect">
            <a:avLst/>
          </a:prstGeom>
          <a:solidFill>
            <a:srgbClr val="FFD7D9"/>
          </a:solidFill>
          <a:ln w="9525">
            <a:solidFill>
              <a:srgbClr val="DA1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70248" y="3218688"/>
            <a:ext cx="3493008" cy="411480"/>
          </a:xfrm>
          <a:prstGeom prst="rect">
            <a:avLst/>
          </a:prstGeom>
          <a:noFill/>
        </p:spPr>
        <p:txBody>
          <a:bodyPr wrap="square">
            <a:spAutoFit/>
          </a:bodyPr>
          <a:lstStyle/>
          <a:p>
            <a:pPr algn="l"/>
            <a:r>
              <a:rPr sz="1050" b="1" i="0">
                <a:solidFill>
                  <a:srgbClr val="DA1E28"/>
                </a:solidFill>
              </a:rPr>
              <a:t>REST API &amp;
Dashboard</a:t>
            </a:r>
          </a:p>
        </p:txBody>
      </p:sp>
      <p:sp>
        <p:nvSpPr>
          <p:cNvPr id="20" name="TextBox 19"/>
          <p:cNvSpPr txBox="1"/>
          <p:nvPr/>
        </p:nvSpPr>
        <p:spPr>
          <a:xfrm>
            <a:off x="4270248" y="3639312"/>
            <a:ext cx="3493008" cy="1188720"/>
          </a:xfrm>
          <a:prstGeom prst="rect">
            <a:avLst/>
          </a:prstGeom>
          <a:noFill/>
        </p:spPr>
        <p:txBody>
          <a:bodyPr wrap="square">
            <a:spAutoFit/>
          </a:bodyPr>
          <a:lstStyle/>
          <a:p>
            <a:pPr algn="l"/>
            <a:r>
              <a:rPr sz="900" b="0" i="0">
                <a:solidFill>
                  <a:srgbClr val="161616"/>
                </a:solidFill>
              </a:rPr>
              <a:t>5-7 days: REST endpoints for job control, status, errors, reconciliation + React dashboard. Separate frontend resource needed.</a:t>
            </a:r>
          </a:p>
        </p:txBody>
      </p:sp>
      <p:sp>
        <p:nvSpPr>
          <p:cNvPr id="21" name="Rectangle 20"/>
          <p:cNvSpPr/>
          <p:nvPr/>
        </p:nvSpPr>
        <p:spPr>
          <a:xfrm>
            <a:off x="8092440" y="3145536"/>
            <a:ext cx="3703320" cy="1783080"/>
          </a:xfrm>
          <a:prstGeom prst="rect">
            <a:avLst/>
          </a:prstGeom>
          <a:solidFill>
            <a:srgbClr val="FFD7D9"/>
          </a:solidFill>
          <a:ln w="9525">
            <a:solidFill>
              <a:srgbClr val="DA1E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02167" y="3218688"/>
            <a:ext cx="3493008" cy="411480"/>
          </a:xfrm>
          <a:prstGeom prst="rect">
            <a:avLst/>
          </a:prstGeom>
          <a:noFill/>
        </p:spPr>
        <p:txBody>
          <a:bodyPr wrap="square">
            <a:spAutoFit/>
          </a:bodyPr>
          <a:lstStyle/>
          <a:p>
            <a:pPr algn="l"/>
            <a:r>
              <a:rPr sz="1050" b="1" i="0">
                <a:solidFill>
                  <a:srgbClr val="DA1E28"/>
                </a:solidFill>
              </a:rPr>
              <a:t>Testing &amp;
Documentation</a:t>
            </a:r>
          </a:p>
        </p:txBody>
      </p:sp>
      <p:sp>
        <p:nvSpPr>
          <p:cNvPr id="23" name="TextBox 22"/>
          <p:cNvSpPr txBox="1"/>
          <p:nvPr/>
        </p:nvSpPr>
        <p:spPr>
          <a:xfrm>
            <a:off x="8202167" y="3639312"/>
            <a:ext cx="3493008" cy="1188720"/>
          </a:xfrm>
          <a:prstGeom prst="rect">
            <a:avLst/>
          </a:prstGeom>
          <a:noFill/>
        </p:spPr>
        <p:txBody>
          <a:bodyPr wrap="square">
            <a:spAutoFit/>
          </a:bodyPr>
          <a:lstStyle/>
          <a:p>
            <a:pPr algn="l"/>
            <a:r>
              <a:rPr sz="900" b="0" i="0">
                <a:solidFill>
                  <a:srgbClr val="161616"/>
                </a:solidFill>
              </a:rPr>
              <a:t>4-5 days: unit tests deferred, coverage gaps, docs written after the fact and immediately stale. Onboarding a new dev: 2-3 weeks.</a:t>
            </a:r>
          </a:p>
        </p:txBody>
      </p:sp>
      <p:sp>
        <p:nvSpPr>
          <p:cNvPr id="24" name="Rectangle 23"/>
          <p:cNvSpPr/>
          <p:nvPr/>
        </p:nvSpPr>
        <p:spPr>
          <a:xfrm>
            <a:off x="228600" y="5102352"/>
            <a:ext cx="11750040" cy="658368"/>
          </a:xfrm>
          <a:prstGeom prst="rect">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5157216"/>
            <a:ext cx="11521440" cy="548640"/>
          </a:xfrm>
          <a:prstGeom prst="rect">
            <a:avLst/>
          </a:prstGeom>
          <a:noFill/>
        </p:spPr>
        <p:txBody>
          <a:bodyPr wrap="square">
            <a:spAutoFit/>
          </a:bodyPr>
          <a:lstStyle/>
          <a:p>
            <a:pPr algn="ctr"/>
            <a:r>
              <a:rPr sz="1200" b="1" i="0">
                <a:solidFill>
                  <a:srgbClr val="FFFFFF"/>
                </a:solidFill>
              </a:rPr>
              <a:t>TOTAL:  6-8 WEEKS   |   3 people (engineer + BA + QA)   |   High mapping drift   |   No audit trail   |   Tight CSS/CDI coupling retained</a:t>
            </a:r>
          </a:p>
        </p:txBody>
      </p:sp>
      <p:sp>
        <p:nvSpPr>
          <p:cNvPr id="26" name="Rectangle 25"/>
          <p:cNvSpPr/>
          <p:nvPr/>
        </p:nvSpPr>
        <p:spPr>
          <a:xfrm>
            <a:off x="228600" y="6291072"/>
            <a:ext cx="11750040" cy="347472"/>
          </a:xfrm>
          <a:prstGeom prst="rect">
            <a:avLst/>
          </a:prstGeom>
          <a:solidFill>
            <a:srgbClr val="39393A"/>
          </a:solidFill>
          <a:ln w="635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5760" y="6309360"/>
            <a:ext cx="11521440" cy="320040"/>
          </a:xfrm>
          <a:prstGeom prst="rect">
            <a:avLst/>
          </a:prstGeom>
          <a:noFill/>
        </p:spPr>
        <p:txBody>
          <a:bodyPr wrap="square">
            <a:spAutoFit/>
          </a:bodyPr>
          <a:lstStyle/>
          <a:p>
            <a:pPr algn="l"/>
            <a:r>
              <a:rPr sz="800" b="0" i="1">
                <a:solidFill>
                  <a:srgbClr val="C6C6C6"/>
                </a:solidFill>
              </a:rPr>
              <a:t>SCRIPT [0:30-0:52]  "Without Bob: 3-4 days just mapping Snowflake columns to DSM tables. A week building Spring Batch alone. No traceability between specs and code. 6-8 weeks, 3 people, and the spec-to-code drift is a real risk on a regulated system like DSM."</a:t>
            </a:r>
          </a:p>
        </p:txBody>
      </p:sp>
      <p:sp>
        <p:nvSpPr>
          <p:cNvPr id="28" name="Rectangle 27"/>
          <p:cNvSpPr/>
          <p:nvPr/>
        </p:nvSpPr>
        <p:spPr>
          <a:xfrm>
            <a:off x="0" y="6803136"/>
            <a:ext cx="12188952" cy="54864"/>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82880" y="6821424"/>
            <a:ext cx="11795760" cy="200055"/>
          </a:xfrm>
          <a:prstGeom prst="rect">
            <a:avLst/>
          </a:prstGeom>
          <a:noFill/>
        </p:spPr>
        <p:txBody>
          <a:bodyPr wrap="square">
            <a:spAutoFit/>
          </a:bodyPr>
          <a:lstStyle/>
          <a:p>
            <a:pPr algn="ctr"/>
            <a:r>
              <a:rPr sz="700" b="0" i="0" dirty="0">
                <a:solidFill>
                  <a:srgbClr val="FFFFFF"/>
                </a:solidFill>
              </a:rPr>
              <a:t>National Grid DSM  |  CDP Snowflake Loader  |  IBM Bob Level 3  |  Althaf P M  |  </a:t>
            </a:r>
            <a:r>
              <a:rPr lang="en-IN" sz="700" b="0" i="0" dirty="0">
                <a:solidFill>
                  <a:srgbClr val="FFFFFF"/>
                </a:solidFill>
              </a:rPr>
              <a:t>2026</a:t>
            </a:r>
            <a:endParaRPr sz="700" b="0" i="0" dirty="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19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256032"/>
            <a:ext cx="8229600" cy="475488"/>
          </a:xfrm>
          <a:prstGeom prst="rect">
            <a:avLst/>
          </a:prstGeom>
          <a:noFill/>
        </p:spPr>
        <p:txBody>
          <a:bodyPr wrap="square">
            <a:spAutoFit/>
          </a:bodyPr>
          <a:lstStyle/>
          <a:p>
            <a:pPr algn="l"/>
            <a:r>
              <a:rPr sz="2400" b="1" i="0">
                <a:solidFill>
                  <a:srgbClr val="198038"/>
                </a:solidFill>
              </a:rPr>
              <a:t>With IBM Bob — The Delegate Approach</a:t>
            </a:r>
          </a:p>
        </p:txBody>
      </p:sp>
      <p:sp>
        <p:nvSpPr>
          <p:cNvPr id="4" name="TextBox 3"/>
          <p:cNvSpPr txBox="1"/>
          <p:nvPr/>
        </p:nvSpPr>
        <p:spPr>
          <a:xfrm>
            <a:off x="274320" y="749808"/>
            <a:ext cx="10972800" cy="320040"/>
          </a:xfrm>
          <a:prstGeom prst="rect">
            <a:avLst/>
          </a:prstGeom>
          <a:noFill/>
        </p:spPr>
        <p:txBody>
          <a:bodyPr wrap="square">
            <a:spAutoFit/>
          </a:bodyPr>
          <a:lstStyle/>
          <a:p>
            <a:pPr algn="l"/>
            <a:r>
              <a:rPr sz="1200" b="0" i="0" dirty="0">
                <a:solidFill>
                  <a:srgbClr val="525252"/>
                </a:solidFill>
              </a:rPr>
              <a:t>ICA Context loaded via MCP → Bob generated code, tests, docs — all consistent, all traced</a:t>
            </a:r>
          </a:p>
        </p:txBody>
      </p:sp>
      <p:sp>
        <p:nvSpPr>
          <p:cNvPr id="5" name="Rectangle 4"/>
          <p:cNvSpPr/>
          <p:nvPr/>
        </p:nvSpPr>
        <p:spPr>
          <a:xfrm>
            <a:off x="182880" y="1097280"/>
            <a:ext cx="11795760" cy="18288"/>
          </a:xfrm>
          <a:prstGeom prst="rect">
            <a:avLst/>
          </a:prstGeom>
          <a:solidFill>
            <a:srgbClr val="19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88720"/>
            <a:ext cx="2148840" cy="1325880"/>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7472" y="1261872"/>
            <a:ext cx="2011680" cy="1170432"/>
          </a:xfrm>
          <a:prstGeom prst="rect">
            <a:avLst/>
          </a:prstGeom>
          <a:noFill/>
        </p:spPr>
        <p:txBody>
          <a:bodyPr wrap="square">
            <a:spAutoFit/>
          </a:bodyPr>
          <a:lstStyle/>
          <a:p>
            <a:pPr algn="ctr"/>
            <a:r>
              <a:rPr sz="1100" b="1" i="0">
                <a:solidFill>
                  <a:srgbClr val="FFFFFF"/>
                </a:solidFill>
              </a:rPr>
              <a:t>ICA Context
(MCP)
17 docs</a:t>
            </a:r>
          </a:p>
        </p:txBody>
      </p:sp>
      <p:sp>
        <p:nvSpPr>
          <p:cNvPr id="8" name="TextBox 7"/>
          <p:cNvSpPr txBox="1"/>
          <p:nvPr/>
        </p:nvSpPr>
        <p:spPr>
          <a:xfrm>
            <a:off x="2441448" y="1645920"/>
            <a:ext cx="201168" cy="457200"/>
          </a:xfrm>
          <a:prstGeom prst="rect">
            <a:avLst/>
          </a:prstGeom>
          <a:noFill/>
        </p:spPr>
        <p:txBody>
          <a:bodyPr wrap="square">
            <a:spAutoFit/>
          </a:bodyPr>
          <a:lstStyle/>
          <a:p>
            <a:pPr algn="ctr"/>
            <a:r>
              <a:rPr sz="2000" b="1" i="0">
                <a:solidFill>
                  <a:srgbClr val="525252"/>
                </a:solidFill>
              </a:rPr>
              <a:t>→</a:t>
            </a:r>
          </a:p>
        </p:txBody>
      </p:sp>
      <p:sp>
        <p:nvSpPr>
          <p:cNvPr id="9" name="Rectangle 8"/>
          <p:cNvSpPr/>
          <p:nvPr/>
        </p:nvSpPr>
        <p:spPr>
          <a:xfrm>
            <a:off x="2651760" y="1188720"/>
            <a:ext cx="2148840" cy="1325880"/>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24912" y="1261872"/>
            <a:ext cx="2011680" cy="1170432"/>
          </a:xfrm>
          <a:prstGeom prst="rect">
            <a:avLst/>
          </a:prstGeom>
          <a:noFill/>
        </p:spPr>
        <p:txBody>
          <a:bodyPr wrap="square">
            <a:spAutoFit/>
          </a:bodyPr>
          <a:lstStyle/>
          <a:p>
            <a:pPr algn="ctr"/>
            <a:r>
              <a:rPr sz="1100" b="1" i="0">
                <a:solidFill>
                  <a:srgbClr val="FFFFFF"/>
                </a:solidFill>
              </a:rPr>
              <a:t>Mapping
Rules
TR-*/VR-*</a:t>
            </a:r>
          </a:p>
        </p:txBody>
      </p:sp>
      <p:sp>
        <p:nvSpPr>
          <p:cNvPr id="11" name="TextBox 10"/>
          <p:cNvSpPr txBox="1"/>
          <p:nvPr/>
        </p:nvSpPr>
        <p:spPr>
          <a:xfrm>
            <a:off x="4818888" y="1645920"/>
            <a:ext cx="201168" cy="457200"/>
          </a:xfrm>
          <a:prstGeom prst="rect">
            <a:avLst/>
          </a:prstGeom>
          <a:noFill/>
        </p:spPr>
        <p:txBody>
          <a:bodyPr wrap="square">
            <a:spAutoFit/>
          </a:bodyPr>
          <a:lstStyle/>
          <a:p>
            <a:pPr algn="ctr"/>
            <a:r>
              <a:rPr sz="2000" b="1" i="0">
                <a:solidFill>
                  <a:srgbClr val="525252"/>
                </a:solidFill>
              </a:rPr>
              <a:t>→</a:t>
            </a:r>
          </a:p>
        </p:txBody>
      </p:sp>
      <p:sp>
        <p:nvSpPr>
          <p:cNvPr id="12" name="Rectangle 11"/>
          <p:cNvSpPr/>
          <p:nvPr/>
        </p:nvSpPr>
        <p:spPr>
          <a:xfrm>
            <a:off x="5029200" y="1188720"/>
            <a:ext cx="2148840" cy="1325880"/>
          </a:xfrm>
          <a:prstGeom prst="rect">
            <a:avLst/>
          </a:prstGeom>
          <a:solidFill>
            <a:srgbClr val="19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02352" y="1261872"/>
            <a:ext cx="2011680" cy="1170432"/>
          </a:xfrm>
          <a:prstGeom prst="rect">
            <a:avLst/>
          </a:prstGeom>
          <a:noFill/>
        </p:spPr>
        <p:txBody>
          <a:bodyPr wrap="square">
            <a:spAutoFit/>
          </a:bodyPr>
          <a:lstStyle/>
          <a:p>
            <a:pPr algn="ctr"/>
            <a:r>
              <a:rPr sz="1100" b="1" i="0">
                <a:solidFill>
                  <a:srgbClr val="FFFFFF"/>
                </a:solidFill>
              </a:rPr>
              <a:t>Java Code
Spring Batch
+ REST API</a:t>
            </a:r>
          </a:p>
        </p:txBody>
      </p:sp>
      <p:sp>
        <p:nvSpPr>
          <p:cNvPr id="14" name="TextBox 13"/>
          <p:cNvSpPr txBox="1"/>
          <p:nvPr/>
        </p:nvSpPr>
        <p:spPr>
          <a:xfrm>
            <a:off x="7196328" y="1645920"/>
            <a:ext cx="201168" cy="457200"/>
          </a:xfrm>
          <a:prstGeom prst="rect">
            <a:avLst/>
          </a:prstGeom>
          <a:noFill/>
        </p:spPr>
        <p:txBody>
          <a:bodyPr wrap="square">
            <a:spAutoFit/>
          </a:bodyPr>
          <a:lstStyle/>
          <a:p>
            <a:pPr algn="ctr"/>
            <a:r>
              <a:rPr sz="2000" b="1" i="0">
                <a:solidFill>
                  <a:srgbClr val="525252"/>
                </a:solidFill>
              </a:rPr>
              <a:t>→</a:t>
            </a:r>
          </a:p>
        </p:txBody>
      </p:sp>
      <p:sp>
        <p:nvSpPr>
          <p:cNvPr id="15" name="Rectangle 14"/>
          <p:cNvSpPr/>
          <p:nvPr/>
        </p:nvSpPr>
        <p:spPr>
          <a:xfrm>
            <a:off x="7406640" y="1188720"/>
            <a:ext cx="2148840" cy="1325880"/>
          </a:xfrm>
          <a:prstGeom prst="rect">
            <a:avLst/>
          </a:prstGeom>
          <a:solidFill>
            <a:srgbClr val="6929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79792" y="1261872"/>
            <a:ext cx="2011680" cy="1170432"/>
          </a:xfrm>
          <a:prstGeom prst="rect">
            <a:avLst/>
          </a:prstGeom>
          <a:noFill/>
        </p:spPr>
        <p:txBody>
          <a:bodyPr wrap="square">
            <a:spAutoFit/>
          </a:bodyPr>
          <a:lstStyle/>
          <a:p>
            <a:pPr algn="ctr"/>
            <a:r>
              <a:rPr sz="1100" b="1" i="0">
                <a:solidFill>
                  <a:srgbClr val="FFFFFF"/>
                </a:solidFill>
              </a:rPr>
              <a:t>Unit Tests
44 tests
0 failures</a:t>
            </a:r>
          </a:p>
        </p:txBody>
      </p:sp>
      <p:sp>
        <p:nvSpPr>
          <p:cNvPr id="17" name="TextBox 16"/>
          <p:cNvSpPr txBox="1"/>
          <p:nvPr/>
        </p:nvSpPr>
        <p:spPr>
          <a:xfrm>
            <a:off x="9573768" y="1645920"/>
            <a:ext cx="201168" cy="457200"/>
          </a:xfrm>
          <a:prstGeom prst="rect">
            <a:avLst/>
          </a:prstGeom>
          <a:noFill/>
        </p:spPr>
        <p:txBody>
          <a:bodyPr wrap="square">
            <a:spAutoFit/>
          </a:bodyPr>
          <a:lstStyle/>
          <a:p>
            <a:pPr algn="ctr"/>
            <a:r>
              <a:rPr sz="2000" b="1" i="0">
                <a:solidFill>
                  <a:srgbClr val="525252"/>
                </a:solidFill>
              </a:rPr>
              <a:t>→</a:t>
            </a:r>
          </a:p>
        </p:txBody>
      </p:sp>
      <p:sp>
        <p:nvSpPr>
          <p:cNvPr id="18" name="Rectangle 17"/>
          <p:cNvSpPr/>
          <p:nvPr/>
        </p:nvSpPr>
        <p:spPr>
          <a:xfrm>
            <a:off x="9784080" y="1188720"/>
            <a:ext cx="2148840" cy="1325880"/>
          </a:xfrm>
          <a:prstGeom prst="rect">
            <a:avLst/>
          </a:prstGeom>
          <a:solidFill>
            <a:srgbClr val="005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57232" y="1261872"/>
            <a:ext cx="2011680" cy="1170432"/>
          </a:xfrm>
          <a:prstGeom prst="rect">
            <a:avLst/>
          </a:prstGeom>
          <a:noFill/>
        </p:spPr>
        <p:txBody>
          <a:bodyPr wrap="square">
            <a:spAutoFit/>
          </a:bodyPr>
          <a:lstStyle/>
          <a:p>
            <a:pPr algn="ctr"/>
            <a:r>
              <a:rPr sz="1100" b="1" i="0">
                <a:solidFill>
                  <a:srgbClr val="FFFFFF"/>
                </a:solidFill>
              </a:rPr>
              <a:t>React
Dashboard
+ Docs</a:t>
            </a:r>
          </a:p>
        </p:txBody>
      </p:sp>
      <p:sp>
        <p:nvSpPr>
          <p:cNvPr id="20" name="Rectangle 19"/>
          <p:cNvSpPr/>
          <p:nvPr/>
        </p:nvSpPr>
        <p:spPr>
          <a:xfrm>
            <a:off x="274320" y="2651760"/>
            <a:ext cx="1801368" cy="1325880"/>
          </a:xfrm>
          <a:prstGeom prst="rect">
            <a:avLst/>
          </a:prstGeom>
          <a:solidFill>
            <a:srgbClr val="DEF7E9"/>
          </a:solidFill>
          <a:ln w="19050">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2724912"/>
            <a:ext cx="1709928" cy="621792"/>
          </a:xfrm>
          <a:prstGeom prst="rect">
            <a:avLst/>
          </a:prstGeom>
          <a:noFill/>
        </p:spPr>
        <p:txBody>
          <a:bodyPr wrap="square">
            <a:spAutoFit/>
          </a:bodyPr>
          <a:lstStyle/>
          <a:p>
            <a:pPr algn="ctr"/>
            <a:r>
              <a:rPr sz="3400" b="1" i="0">
                <a:solidFill>
                  <a:srgbClr val="198038"/>
                </a:solidFill>
              </a:rPr>
              <a:t>~2</a:t>
            </a:r>
          </a:p>
        </p:txBody>
      </p:sp>
      <p:sp>
        <p:nvSpPr>
          <p:cNvPr id="22" name="TextBox 21"/>
          <p:cNvSpPr txBox="1"/>
          <p:nvPr/>
        </p:nvSpPr>
        <p:spPr>
          <a:xfrm>
            <a:off x="320040" y="3291840"/>
            <a:ext cx="1709928" cy="621792"/>
          </a:xfrm>
          <a:prstGeom prst="rect">
            <a:avLst/>
          </a:prstGeom>
          <a:noFill/>
        </p:spPr>
        <p:txBody>
          <a:bodyPr wrap="square">
            <a:spAutoFit/>
          </a:bodyPr>
          <a:lstStyle/>
          <a:p>
            <a:pPr algn="ctr"/>
            <a:r>
              <a:rPr sz="900" b="0" i="0">
                <a:solidFill>
                  <a:srgbClr val="161616"/>
                </a:solidFill>
              </a:rPr>
              <a:t>Weeks total
(was 6-8)</a:t>
            </a:r>
          </a:p>
        </p:txBody>
      </p:sp>
      <p:sp>
        <p:nvSpPr>
          <p:cNvPr id="23" name="Rectangle 22"/>
          <p:cNvSpPr/>
          <p:nvPr/>
        </p:nvSpPr>
        <p:spPr>
          <a:xfrm>
            <a:off x="2258568" y="2651760"/>
            <a:ext cx="1801368" cy="1325880"/>
          </a:xfrm>
          <a:prstGeom prst="rect">
            <a:avLst/>
          </a:prstGeom>
          <a:solidFill>
            <a:srgbClr val="DEF7E9"/>
          </a:solidFill>
          <a:ln w="19050">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304288" y="2724912"/>
            <a:ext cx="1709928" cy="621792"/>
          </a:xfrm>
          <a:prstGeom prst="rect">
            <a:avLst/>
          </a:prstGeom>
          <a:noFill/>
        </p:spPr>
        <p:txBody>
          <a:bodyPr wrap="square">
            <a:spAutoFit/>
          </a:bodyPr>
          <a:lstStyle/>
          <a:p>
            <a:pPr algn="ctr"/>
            <a:r>
              <a:rPr sz="3400" b="1" i="0">
                <a:solidFill>
                  <a:srgbClr val="198038"/>
                </a:solidFill>
              </a:rPr>
              <a:t>44</a:t>
            </a:r>
          </a:p>
        </p:txBody>
      </p:sp>
      <p:sp>
        <p:nvSpPr>
          <p:cNvPr id="25" name="TextBox 24"/>
          <p:cNvSpPr txBox="1"/>
          <p:nvPr/>
        </p:nvSpPr>
        <p:spPr>
          <a:xfrm>
            <a:off x="2304288" y="3291840"/>
            <a:ext cx="1709928" cy="621792"/>
          </a:xfrm>
          <a:prstGeom prst="rect">
            <a:avLst/>
          </a:prstGeom>
          <a:noFill/>
        </p:spPr>
        <p:txBody>
          <a:bodyPr wrap="square">
            <a:spAutoFit/>
          </a:bodyPr>
          <a:lstStyle/>
          <a:p>
            <a:pPr algn="ctr"/>
            <a:r>
              <a:rPr sz="900" b="0" i="0">
                <a:solidFill>
                  <a:srgbClr val="161616"/>
                </a:solidFill>
              </a:rPr>
              <a:t>Unit tests
0 failures</a:t>
            </a:r>
          </a:p>
        </p:txBody>
      </p:sp>
      <p:sp>
        <p:nvSpPr>
          <p:cNvPr id="26" name="Rectangle 25"/>
          <p:cNvSpPr/>
          <p:nvPr/>
        </p:nvSpPr>
        <p:spPr>
          <a:xfrm>
            <a:off x="4242816" y="2651760"/>
            <a:ext cx="1801368" cy="1325880"/>
          </a:xfrm>
          <a:prstGeom prst="rect">
            <a:avLst/>
          </a:prstGeom>
          <a:solidFill>
            <a:srgbClr val="DEF7E9"/>
          </a:solidFill>
          <a:ln w="19050">
            <a:solidFill>
              <a:srgbClr val="006A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88536" y="2724912"/>
            <a:ext cx="1709928" cy="621792"/>
          </a:xfrm>
          <a:prstGeom prst="rect">
            <a:avLst/>
          </a:prstGeom>
          <a:noFill/>
        </p:spPr>
        <p:txBody>
          <a:bodyPr wrap="square">
            <a:spAutoFit/>
          </a:bodyPr>
          <a:lstStyle/>
          <a:p>
            <a:pPr algn="ctr"/>
            <a:r>
              <a:rPr sz="3400" b="1" i="0">
                <a:solidFill>
                  <a:srgbClr val="006A2E"/>
                </a:solidFill>
              </a:rPr>
              <a:t>55</a:t>
            </a:r>
          </a:p>
        </p:txBody>
      </p:sp>
      <p:sp>
        <p:nvSpPr>
          <p:cNvPr id="28" name="TextBox 27"/>
          <p:cNvSpPr txBox="1"/>
          <p:nvPr/>
        </p:nvSpPr>
        <p:spPr>
          <a:xfrm>
            <a:off x="4288536" y="3291840"/>
            <a:ext cx="1709928" cy="621792"/>
          </a:xfrm>
          <a:prstGeom prst="rect">
            <a:avLst/>
          </a:prstGeom>
          <a:noFill/>
        </p:spPr>
        <p:txBody>
          <a:bodyPr wrap="square">
            <a:spAutoFit/>
          </a:bodyPr>
          <a:lstStyle/>
          <a:p>
            <a:pPr algn="ctr"/>
            <a:r>
              <a:rPr sz="900" b="0" i="0">
                <a:solidFill>
                  <a:srgbClr val="161616"/>
                </a:solidFill>
              </a:rPr>
              <a:t>Data acceptance
checks PASS</a:t>
            </a:r>
          </a:p>
        </p:txBody>
      </p:sp>
      <p:sp>
        <p:nvSpPr>
          <p:cNvPr id="29" name="Rectangle 28"/>
          <p:cNvSpPr/>
          <p:nvPr/>
        </p:nvSpPr>
        <p:spPr>
          <a:xfrm>
            <a:off x="6227064" y="2651760"/>
            <a:ext cx="1801368" cy="1325880"/>
          </a:xfrm>
          <a:prstGeom prst="rect">
            <a:avLst/>
          </a:prstGeom>
          <a:solidFill>
            <a:srgbClr val="DEF7E9"/>
          </a:solidFill>
          <a:ln w="19050">
            <a:solidFill>
              <a:srgbClr val="004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72783" y="2724912"/>
            <a:ext cx="1709928" cy="621792"/>
          </a:xfrm>
          <a:prstGeom prst="rect">
            <a:avLst/>
          </a:prstGeom>
          <a:noFill/>
        </p:spPr>
        <p:txBody>
          <a:bodyPr wrap="square">
            <a:spAutoFit/>
          </a:bodyPr>
          <a:lstStyle/>
          <a:p>
            <a:pPr algn="ctr"/>
            <a:r>
              <a:rPr sz="3400" b="1" i="0">
                <a:solidFill>
                  <a:srgbClr val="0043CE"/>
                </a:solidFill>
              </a:rPr>
              <a:t>17</a:t>
            </a:r>
          </a:p>
        </p:txBody>
      </p:sp>
      <p:sp>
        <p:nvSpPr>
          <p:cNvPr id="31" name="TextBox 30"/>
          <p:cNvSpPr txBox="1"/>
          <p:nvPr/>
        </p:nvSpPr>
        <p:spPr>
          <a:xfrm>
            <a:off x="6272783" y="3291840"/>
            <a:ext cx="1709928" cy="621792"/>
          </a:xfrm>
          <a:prstGeom prst="rect">
            <a:avLst/>
          </a:prstGeom>
          <a:noFill/>
        </p:spPr>
        <p:txBody>
          <a:bodyPr wrap="square">
            <a:spAutoFit/>
          </a:bodyPr>
          <a:lstStyle/>
          <a:p>
            <a:pPr algn="ctr"/>
            <a:r>
              <a:rPr sz="900" b="0" i="0">
                <a:solidFill>
                  <a:srgbClr val="161616"/>
                </a:solidFill>
              </a:rPr>
              <a:t>ICA context
docs generated</a:t>
            </a:r>
          </a:p>
        </p:txBody>
      </p:sp>
      <p:sp>
        <p:nvSpPr>
          <p:cNvPr id="32" name="Rectangle 31"/>
          <p:cNvSpPr/>
          <p:nvPr/>
        </p:nvSpPr>
        <p:spPr>
          <a:xfrm>
            <a:off x="8211312" y="2651760"/>
            <a:ext cx="1801368" cy="1325880"/>
          </a:xfrm>
          <a:prstGeom prst="rect">
            <a:avLst/>
          </a:prstGeom>
          <a:solidFill>
            <a:srgbClr val="DEF7E9"/>
          </a:solidFill>
          <a:ln w="19050">
            <a:solidFill>
              <a:srgbClr val="6929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57032" y="2724912"/>
            <a:ext cx="1709928" cy="621792"/>
          </a:xfrm>
          <a:prstGeom prst="rect">
            <a:avLst/>
          </a:prstGeom>
          <a:noFill/>
        </p:spPr>
        <p:txBody>
          <a:bodyPr wrap="square">
            <a:spAutoFit/>
          </a:bodyPr>
          <a:lstStyle/>
          <a:p>
            <a:pPr algn="ctr"/>
            <a:r>
              <a:rPr sz="3400" b="1" i="0">
                <a:solidFill>
                  <a:srgbClr val="6929D0"/>
                </a:solidFill>
              </a:rPr>
              <a:t>1</a:t>
            </a:r>
          </a:p>
        </p:txBody>
      </p:sp>
      <p:sp>
        <p:nvSpPr>
          <p:cNvPr id="34" name="TextBox 33"/>
          <p:cNvSpPr txBox="1"/>
          <p:nvPr/>
        </p:nvSpPr>
        <p:spPr>
          <a:xfrm>
            <a:off x="8257032" y="3291840"/>
            <a:ext cx="1709928" cy="621792"/>
          </a:xfrm>
          <a:prstGeom prst="rect">
            <a:avLst/>
          </a:prstGeom>
          <a:noFill/>
        </p:spPr>
        <p:txBody>
          <a:bodyPr wrap="square">
            <a:spAutoFit/>
          </a:bodyPr>
          <a:lstStyle/>
          <a:p>
            <a:pPr algn="ctr"/>
            <a:r>
              <a:rPr sz="900" b="0" i="0">
                <a:solidFill>
                  <a:srgbClr val="161616"/>
                </a:solidFill>
              </a:rPr>
              <a:t>Person
(was 3)</a:t>
            </a:r>
          </a:p>
        </p:txBody>
      </p:sp>
      <p:sp>
        <p:nvSpPr>
          <p:cNvPr id="35" name="Rectangle 34"/>
          <p:cNvSpPr/>
          <p:nvPr/>
        </p:nvSpPr>
        <p:spPr>
          <a:xfrm>
            <a:off x="10195560" y="2651760"/>
            <a:ext cx="1801368" cy="1325880"/>
          </a:xfrm>
          <a:prstGeom prst="rect">
            <a:avLst/>
          </a:prstGeom>
          <a:solidFill>
            <a:srgbClr val="DEF7E9"/>
          </a:solidFill>
          <a:ln w="19050">
            <a:solidFill>
              <a:srgbClr val="005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41280" y="2724912"/>
            <a:ext cx="1709928" cy="621792"/>
          </a:xfrm>
          <a:prstGeom prst="rect">
            <a:avLst/>
          </a:prstGeom>
          <a:noFill/>
        </p:spPr>
        <p:txBody>
          <a:bodyPr wrap="square">
            <a:spAutoFit/>
          </a:bodyPr>
          <a:lstStyle/>
          <a:p>
            <a:pPr algn="ctr"/>
            <a:r>
              <a:rPr sz="3400" b="1" i="0">
                <a:solidFill>
                  <a:srgbClr val="00539A"/>
                </a:solidFill>
              </a:rPr>
              <a:t>0</a:t>
            </a:r>
          </a:p>
        </p:txBody>
      </p:sp>
      <p:sp>
        <p:nvSpPr>
          <p:cNvPr id="37" name="TextBox 36"/>
          <p:cNvSpPr txBox="1"/>
          <p:nvPr/>
        </p:nvSpPr>
        <p:spPr>
          <a:xfrm>
            <a:off x="10241280" y="3291840"/>
            <a:ext cx="1709928" cy="621792"/>
          </a:xfrm>
          <a:prstGeom prst="rect">
            <a:avLst/>
          </a:prstGeom>
          <a:noFill/>
        </p:spPr>
        <p:txBody>
          <a:bodyPr wrap="square">
            <a:spAutoFit/>
          </a:bodyPr>
          <a:lstStyle/>
          <a:p>
            <a:pPr algn="ctr"/>
            <a:r>
              <a:rPr sz="900" b="0" i="0">
                <a:solidFill>
                  <a:srgbClr val="161616"/>
                </a:solidFill>
              </a:rPr>
              <a:t>Secrets in
250+ files</a:t>
            </a:r>
          </a:p>
        </p:txBody>
      </p:sp>
      <p:sp>
        <p:nvSpPr>
          <p:cNvPr id="38" name="TextBox 37"/>
          <p:cNvSpPr txBox="1"/>
          <p:nvPr/>
        </p:nvSpPr>
        <p:spPr>
          <a:xfrm>
            <a:off x="274320" y="4114800"/>
            <a:ext cx="4572000" cy="347472"/>
          </a:xfrm>
          <a:prstGeom prst="rect">
            <a:avLst/>
          </a:prstGeom>
          <a:noFill/>
        </p:spPr>
        <p:txBody>
          <a:bodyPr wrap="square">
            <a:spAutoFit/>
          </a:bodyPr>
          <a:lstStyle/>
          <a:p>
            <a:pPr algn="l"/>
            <a:r>
              <a:rPr sz="1200" b="1" i="0">
                <a:solidFill>
                  <a:srgbClr val="0043CE"/>
                </a:solidFill>
              </a:rPr>
              <a:t>What Bob Generated for DSM</a:t>
            </a:r>
          </a:p>
        </p:txBody>
      </p:sp>
      <p:sp>
        <p:nvSpPr>
          <p:cNvPr id="39" name="TextBox 38"/>
          <p:cNvSpPr txBox="1"/>
          <p:nvPr/>
        </p:nvSpPr>
        <p:spPr>
          <a:xfrm>
            <a:off x="274320" y="4498848"/>
            <a:ext cx="11612880" cy="301752"/>
          </a:xfrm>
          <a:prstGeom prst="rect">
            <a:avLst/>
          </a:prstGeom>
          <a:noFill/>
        </p:spPr>
        <p:txBody>
          <a:bodyPr wrap="square">
            <a:spAutoFit/>
          </a:bodyPr>
          <a:lstStyle/>
          <a:p>
            <a:pPr algn="l"/>
            <a:r>
              <a:rPr sz="950" b="0" i="0">
                <a:solidFill>
                  <a:srgbClr val="161616"/>
                </a:solidFill>
              </a:rPr>
              <a:t>▸  Spring Batch pipeline: InitialLoadJob, DailyIncrementalJob, MonthlyUsageJob — all 8 DSM entity types</a:t>
            </a:r>
          </a:p>
        </p:txBody>
      </p:sp>
      <p:sp>
        <p:nvSpPr>
          <p:cNvPr id="40" name="TextBox 39"/>
          <p:cNvSpPr txBox="1"/>
          <p:nvPr/>
        </p:nvSpPr>
        <p:spPr>
          <a:xfrm>
            <a:off x="274320" y="4828032"/>
            <a:ext cx="11612880" cy="301752"/>
          </a:xfrm>
          <a:prstGeom prst="rect">
            <a:avLst/>
          </a:prstGeom>
          <a:noFill/>
        </p:spPr>
        <p:txBody>
          <a:bodyPr wrap="square">
            <a:spAutoFit/>
          </a:bodyPr>
          <a:lstStyle/>
          <a:p>
            <a:pPr algn="l"/>
            <a:r>
              <a:rPr sz="950" b="0" i="0">
                <a:solidFill>
                  <a:srgbClr val="161616"/>
                </a:solidFill>
              </a:rPr>
              <a:t>▸  Oracle DDL: Flyway V001-V004 migrations for DSM staging/target tables — idempotent, versioned</a:t>
            </a:r>
          </a:p>
        </p:txBody>
      </p:sp>
      <p:sp>
        <p:nvSpPr>
          <p:cNvPr id="41" name="TextBox 40"/>
          <p:cNvSpPr txBox="1"/>
          <p:nvPr/>
        </p:nvSpPr>
        <p:spPr>
          <a:xfrm>
            <a:off x="274320" y="5157216"/>
            <a:ext cx="11612880" cy="301752"/>
          </a:xfrm>
          <a:prstGeom prst="rect">
            <a:avLst/>
          </a:prstGeom>
          <a:noFill/>
        </p:spPr>
        <p:txBody>
          <a:bodyPr wrap="square">
            <a:spAutoFit/>
          </a:bodyPr>
          <a:lstStyle/>
          <a:p>
            <a:pPr algn="l"/>
            <a:r>
              <a:rPr sz="950" b="0" i="0">
                <a:solidFill>
                  <a:srgbClr val="161616"/>
                </a:solidFill>
              </a:rPr>
              <a:t>▸  Snowflake provisioning: 13 scripts with aborting pre-flight checks and 55-check acceptance suite</a:t>
            </a:r>
          </a:p>
        </p:txBody>
      </p:sp>
      <p:sp>
        <p:nvSpPr>
          <p:cNvPr id="42" name="TextBox 41"/>
          <p:cNvSpPr txBox="1"/>
          <p:nvPr/>
        </p:nvSpPr>
        <p:spPr>
          <a:xfrm>
            <a:off x="274320" y="5486400"/>
            <a:ext cx="11612880" cy="301752"/>
          </a:xfrm>
          <a:prstGeom prst="rect">
            <a:avLst/>
          </a:prstGeom>
          <a:noFill/>
        </p:spPr>
        <p:txBody>
          <a:bodyPr wrap="square">
            <a:spAutoFit/>
          </a:bodyPr>
          <a:lstStyle/>
          <a:p>
            <a:pPr algn="l"/>
            <a:r>
              <a:rPr sz="950" b="0" i="0">
                <a:solidFill>
                  <a:srgbClr val="161616"/>
                </a:solidFill>
              </a:rPr>
              <a:t>▸  REST API: 9 endpoints (job trigger, status, errors, reconciliation, health) + Swagger docs</a:t>
            </a:r>
          </a:p>
        </p:txBody>
      </p:sp>
      <p:sp>
        <p:nvSpPr>
          <p:cNvPr id="43" name="TextBox 42"/>
          <p:cNvSpPr txBox="1"/>
          <p:nvPr/>
        </p:nvSpPr>
        <p:spPr>
          <a:xfrm>
            <a:off x="274320" y="5815583"/>
            <a:ext cx="11612880" cy="301752"/>
          </a:xfrm>
          <a:prstGeom prst="rect">
            <a:avLst/>
          </a:prstGeom>
          <a:noFill/>
        </p:spPr>
        <p:txBody>
          <a:bodyPr wrap="square">
            <a:spAutoFit/>
          </a:bodyPr>
          <a:lstStyle/>
          <a:p>
            <a:pPr algn="l"/>
            <a:r>
              <a:rPr sz="950" b="0" i="0">
                <a:solidFill>
                  <a:srgbClr val="161616"/>
                </a:solidFill>
              </a:rPr>
              <a:t>▸  React + TypeScript dashboard: job control panel, health badges, reconciliation summary, error table</a:t>
            </a:r>
          </a:p>
        </p:txBody>
      </p:sp>
      <p:sp>
        <p:nvSpPr>
          <p:cNvPr id="44" name="TextBox 43"/>
          <p:cNvSpPr txBox="1"/>
          <p:nvPr/>
        </p:nvSpPr>
        <p:spPr>
          <a:xfrm>
            <a:off x="274320" y="6144768"/>
            <a:ext cx="11612880" cy="301752"/>
          </a:xfrm>
          <a:prstGeom prst="rect">
            <a:avLst/>
          </a:prstGeom>
          <a:noFill/>
        </p:spPr>
        <p:txBody>
          <a:bodyPr wrap="square">
            <a:spAutoFit/>
          </a:bodyPr>
          <a:lstStyle/>
          <a:p>
            <a:pPr algn="l"/>
            <a:r>
              <a:rPr sz="950" b="0" i="0">
                <a:solidFill>
                  <a:srgbClr val="161616"/>
                </a:solidFill>
              </a:rPr>
              <a:t>▸  25+ documentation files: architecture, ADRs, security design, operations runbook — always in sync</a:t>
            </a:r>
          </a:p>
        </p:txBody>
      </p:sp>
      <p:sp>
        <p:nvSpPr>
          <p:cNvPr id="45" name="Rectangle 44"/>
          <p:cNvSpPr/>
          <p:nvPr/>
        </p:nvSpPr>
        <p:spPr>
          <a:xfrm>
            <a:off x="228600" y="6291072"/>
            <a:ext cx="11750040" cy="347472"/>
          </a:xfrm>
          <a:prstGeom prst="rect">
            <a:avLst/>
          </a:prstGeom>
          <a:solidFill>
            <a:srgbClr val="39393A"/>
          </a:solidFill>
          <a:ln w="635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5760" y="6309360"/>
            <a:ext cx="11521440" cy="320040"/>
          </a:xfrm>
          <a:prstGeom prst="rect">
            <a:avLst/>
          </a:prstGeom>
          <a:noFill/>
        </p:spPr>
        <p:txBody>
          <a:bodyPr wrap="square">
            <a:spAutoFit/>
          </a:bodyPr>
          <a:lstStyle/>
          <a:p>
            <a:pPr algn="l"/>
            <a:r>
              <a:rPr sz="800" b="0" i="1">
                <a:solidFill>
                  <a:srgbClr val="C6C6C6"/>
                </a:solidFill>
              </a:rPr>
              <a:t>SCRIPT [0:52-1:12]  "With Bob at the Delegate stage, I loaded 17 ICA context docs via MCP. Bob generated the full Spring Batch pipeline, Flyway DDL, Snowflake scripts, REST API, and React dashboard — all traced back to those same mapping rules. 6-8 weeks became 2 weeks. 3 people became 1."</a:t>
            </a:r>
          </a:p>
        </p:txBody>
      </p:sp>
      <p:sp>
        <p:nvSpPr>
          <p:cNvPr id="47" name="Rectangle 46"/>
          <p:cNvSpPr/>
          <p:nvPr/>
        </p:nvSpPr>
        <p:spPr>
          <a:xfrm>
            <a:off x="0" y="6803136"/>
            <a:ext cx="12188952" cy="54864"/>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82880" y="6821424"/>
            <a:ext cx="11795760" cy="200055"/>
          </a:xfrm>
          <a:prstGeom prst="rect">
            <a:avLst/>
          </a:prstGeom>
          <a:noFill/>
        </p:spPr>
        <p:txBody>
          <a:bodyPr wrap="square">
            <a:spAutoFit/>
          </a:bodyPr>
          <a:lstStyle/>
          <a:p>
            <a:pPr algn="ctr"/>
            <a:r>
              <a:rPr sz="700" b="0" i="0" dirty="0">
                <a:solidFill>
                  <a:srgbClr val="FFFFFF"/>
                </a:solidFill>
              </a:rPr>
              <a:t>National Grid DSM  |  CDP Snowflake Loader  |  IBM Bob Level 3  |  Althaf P M  |  </a:t>
            </a:r>
            <a:r>
              <a:rPr lang="en-IN" sz="700" b="0" i="0" dirty="0">
                <a:solidFill>
                  <a:srgbClr val="FFFFFF"/>
                </a:solidFill>
              </a:rPr>
              <a:t>2026</a:t>
            </a:r>
            <a:endParaRPr sz="700" b="0" i="0" dirty="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256032"/>
            <a:ext cx="8229600" cy="475488"/>
          </a:xfrm>
          <a:prstGeom prst="rect">
            <a:avLst/>
          </a:prstGeom>
          <a:noFill/>
        </p:spPr>
        <p:txBody>
          <a:bodyPr wrap="square">
            <a:spAutoFit/>
          </a:bodyPr>
          <a:lstStyle/>
          <a:p>
            <a:pPr algn="l"/>
            <a:r>
              <a:rPr sz="2400" b="1" i="0">
                <a:solidFill>
                  <a:srgbClr val="0043CE"/>
                </a:solidFill>
              </a:rPr>
              <a:t>Before vs After — Quantitative</a:t>
            </a:r>
          </a:p>
        </p:txBody>
      </p:sp>
      <p:sp>
        <p:nvSpPr>
          <p:cNvPr id="4" name="TextBox 3"/>
          <p:cNvSpPr txBox="1"/>
          <p:nvPr/>
        </p:nvSpPr>
        <p:spPr>
          <a:xfrm>
            <a:off x="274320" y="749808"/>
            <a:ext cx="8229600" cy="320040"/>
          </a:xfrm>
          <a:prstGeom prst="rect">
            <a:avLst/>
          </a:prstGeom>
          <a:noFill/>
        </p:spPr>
        <p:txBody>
          <a:bodyPr wrap="square">
            <a:spAutoFit/>
          </a:bodyPr>
          <a:lstStyle/>
          <a:p>
            <a:pPr algn="l"/>
            <a:r>
              <a:rPr sz="1300" b="0" i="0">
                <a:solidFill>
                  <a:srgbClr val="525252"/>
                </a:solidFill>
              </a:rPr>
              <a:t>Every claim has a number</a:t>
            </a:r>
          </a:p>
        </p:txBody>
      </p:sp>
      <p:sp>
        <p:nvSpPr>
          <p:cNvPr id="5" name="Rectangle 4"/>
          <p:cNvSpPr/>
          <p:nvPr/>
        </p:nvSpPr>
        <p:spPr>
          <a:xfrm>
            <a:off x="182880" y="1097280"/>
            <a:ext cx="11795760" cy="18288"/>
          </a:xfrm>
          <a:prstGeom prst="rect">
            <a:avLst/>
          </a:prstGeom>
          <a:solidFill>
            <a:srgbClr val="D0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170432"/>
            <a:ext cx="4114800" cy="384048"/>
          </a:xfrm>
          <a:prstGeom prst="rect">
            <a:avLst/>
          </a:prstGeom>
          <a:solidFill>
            <a:srgbClr val="5252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361688" y="1170432"/>
            <a:ext cx="3566160" cy="384048"/>
          </a:xfrm>
          <a:prstGeom prst="rect">
            <a:avLst/>
          </a:prstGeom>
          <a:solidFill>
            <a:srgbClr val="DA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946136" y="1170432"/>
            <a:ext cx="4023360" cy="384048"/>
          </a:xfrm>
          <a:prstGeom prst="rect">
            <a:avLst/>
          </a:prstGeom>
          <a:solidFill>
            <a:srgbClr val="19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188720"/>
            <a:ext cx="3931920" cy="347472"/>
          </a:xfrm>
          <a:prstGeom prst="rect">
            <a:avLst/>
          </a:prstGeom>
          <a:noFill/>
        </p:spPr>
        <p:txBody>
          <a:bodyPr wrap="square">
            <a:spAutoFit/>
          </a:bodyPr>
          <a:lstStyle/>
          <a:p>
            <a:pPr algn="l"/>
            <a:r>
              <a:rPr sz="1000" b="1" i="0">
                <a:solidFill>
                  <a:srgbClr val="FFFFFF"/>
                </a:solidFill>
              </a:rPr>
              <a:t>Activity</a:t>
            </a:r>
          </a:p>
        </p:txBody>
      </p:sp>
      <p:sp>
        <p:nvSpPr>
          <p:cNvPr id="10" name="TextBox 9"/>
          <p:cNvSpPr txBox="1"/>
          <p:nvPr/>
        </p:nvSpPr>
        <p:spPr>
          <a:xfrm>
            <a:off x="4453128" y="1188720"/>
            <a:ext cx="3383280" cy="347472"/>
          </a:xfrm>
          <a:prstGeom prst="rect">
            <a:avLst/>
          </a:prstGeom>
          <a:noFill/>
        </p:spPr>
        <p:txBody>
          <a:bodyPr wrap="square">
            <a:spAutoFit/>
          </a:bodyPr>
          <a:lstStyle/>
          <a:p>
            <a:pPr algn="ctr"/>
            <a:r>
              <a:rPr sz="1000" b="1" i="0">
                <a:solidFill>
                  <a:srgbClr val="FFFFFF"/>
                </a:solidFill>
              </a:rPr>
              <a:t>Without Bob (Manual)</a:t>
            </a:r>
          </a:p>
        </p:txBody>
      </p:sp>
      <p:sp>
        <p:nvSpPr>
          <p:cNvPr id="11" name="TextBox 10"/>
          <p:cNvSpPr txBox="1"/>
          <p:nvPr/>
        </p:nvSpPr>
        <p:spPr>
          <a:xfrm>
            <a:off x="8037575" y="1188720"/>
            <a:ext cx="3931920" cy="347472"/>
          </a:xfrm>
          <a:prstGeom prst="rect">
            <a:avLst/>
          </a:prstGeom>
          <a:noFill/>
        </p:spPr>
        <p:txBody>
          <a:bodyPr wrap="square">
            <a:spAutoFit/>
          </a:bodyPr>
          <a:lstStyle/>
          <a:p>
            <a:pPr algn="ctr"/>
            <a:r>
              <a:rPr sz="1000" b="1" i="0">
                <a:solidFill>
                  <a:srgbClr val="FFFFFF"/>
                </a:solidFill>
              </a:rPr>
              <a:t>With IBM Bob</a:t>
            </a:r>
          </a:p>
        </p:txBody>
      </p:sp>
      <p:sp>
        <p:nvSpPr>
          <p:cNvPr id="12" name="Rectangle 11"/>
          <p:cNvSpPr/>
          <p:nvPr/>
        </p:nvSpPr>
        <p:spPr>
          <a:xfrm>
            <a:off x="228600" y="1572768"/>
            <a:ext cx="4114800" cy="411480"/>
          </a:xfrm>
          <a:prstGeom prst="rect">
            <a:avLst/>
          </a:prstGeom>
          <a:solidFill>
            <a:srgbClr val="FAFA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61688" y="1572768"/>
            <a:ext cx="3566160" cy="411480"/>
          </a:xfrm>
          <a:prstGeom prst="rect">
            <a:avLst/>
          </a:prstGeom>
          <a:solidFill>
            <a:srgbClr val="FFD7D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46136" y="1572768"/>
            <a:ext cx="4023360" cy="411480"/>
          </a:xfrm>
          <a:prstGeom prst="rect">
            <a:avLst/>
          </a:prstGeom>
          <a:solidFill>
            <a:srgbClr val="DEF7E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 y="1600200"/>
            <a:ext cx="3931920" cy="365760"/>
          </a:xfrm>
          <a:prstGeom prst="rect">
            <a:avLst/>
          </a:prstGeom>
          <a:noFill/>
        </p:spPr>
        <p:txBody>
          <a:bodyPr wrap="square">
            <a:spAutoFit/>
          </a:bodyPr>
          <a:lstStyle/>
          <a:p>
            <a:pPr algn="l"/>
            <a:r>
              <a:rPr sz="850" b="0" i="0">
                <a:solidFill>
                  <a:srgbClr val="161616"/>
                </a:solidFill>
              </a:rPr>
              <a:t>Requirements &amp; DSM-Snowflake
mapping analysis</a:t>
            </a:r>
          </a:p>
        </p:txBody>
      </p:sp>
      <p:sp>
        <p:nvSpPr>
          <p:cNvPr id="16" name="TextBox 15"/>
          <p:cNvSpPr txBox="1"/>
          <p:nvPr/>
        </p:nvSpPr>
        <p:spPr>
          <a:xfrm>
            <a:off x="4453128" y="1600200"/>
            <a:ext cx="3383280" cy="365760"/>
          </a:xfrm>
          <a:prstGeom prst="rect">
            <a:avLst/>
          </a:prstGeom>
          <a:noFill/>
        </p:spPr>
        <p:txBody>
          <a:bodyPr wrap="square">
            <a:spAutoFit/>
          </a:bodyPr>
          <a:lstStyle/>
          <a:p>
            <a:pPr algn="ctr"/>
            <a:r>
              <a:rPr sz="850" b="0" i="0">
                <a:solidFill>
                  <a:srgbClr val="DA1E28"/>
                </a:solidFill>
              </a:rPr>
              <a:t>3-4 days  |  BA interviews
spreadsheet maps, no code link</a:t>
            </a:r>
          </a:p>
        </p:txBody>
      </p:sp>
      <p:sp>
        <p:nvSpPr>
          <p:cNvPr id="17" name="TextBox 16"/>
          <p:cNvSpPr txBox="1"/>
          <p:nvPr/>
        </p:nvSpPr>
        <p:spPr>
          <a:xfrm>
            <a:off x="8037575" y="1600200"/>
            <a:ext cx="3840480" cy="365760"/>
          </a:xfrm>
          <a:prstGeom prst="rect">
            <a:avLst/>
          </a:prstGeom>
          <a:noFill/>
        </p:spPr>
        <p:txBody>
          <a:bodyPr wrap="square">
            <a:spAutoFit/>
          </a:bodyPr>
          <a:lstStyle/>
          <a:p>
            <a:pPr algn="ctr"/>
            <a:r>
              <a:rPr sz="850" b="0" i="0">
                <a:solidFill>
                  <a:srgbClr val="198038"/>
                </a:solidFill>
              </a:rPr>
              <a:t>1 day  |  17 ICA docs, machine-readable
YAML mapping catalogue</a:t>
            </a:r>
          </a:p>
        </p:txBody>
      </p:sp>
      <p:sp>
        <p:nvSpPr>
          <p:cNvPr id="18" name="Rectangle 17"/>
          <p:cNvSpPr/>
          <p:nvPr/>
        </p:nvSpPr>
        <p:spPr>
          <a:xfrm>
            <a:off x="228600" y="2002536"/>
            <a:ext cx="4114800" cy="41148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61688" y="2002536"/>
            <a:ext cx="3566160" cy="411480"/>
          </a:xfrm>
          <a:prstGeom prst="rect">
            <a:avLst/>
          </a:prstGeom>
          <a:solidFill>
            <a:srgbClr val="FFD7D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946136" y="2002536"/>
            <a:ext cx="4023360" cy="411480"/>
          </a:xfrm>
          <a:prstGeom prst="rect">
            <a:avLst/>
          </a:prstGeom>
          <a:solidFill>
            <a:srgbClr val="DEF7E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2029967"/>
            <a:ext cx="3931920" cy="365760"/>
          </a:xfrm>
          <a:prstGeom prst="rect">
            <a:avLst/>
          </a:prstGeom>
          <a:noFill/>
        </p:spPr>
        <p:txBody>
          <a:bodyPr wrap="square">
            <a:spAutoFit/>
          </a:bodyPr>
          <a:lstStyle/>
          <a:p>
            <a:pPr algn="l"/>
            <a:r>
              <a:rPr sz="850" b="0" i="0">
                <a:solidFill>
                  <a:srgbClr val="161616"/>
                </a:solidFill>
              </a:rPr>
              <a:t>Oracle DDL &amp; Flyway migrations</a:t>
            </a:r>
          </a:p>
        </p:txBody>
      </p:sp>
      <p:sp>
        <p:nvSpPr>
          <p:cNvPr id="22" name="TextBox 21"/>
          <p:cNvSpPr txBox="1"/>
          <p:nvPr/>
        </p:nvSpPr>
        <p:spPr>
          <a:xfrm>
            <a:off x="4453128" y="2029967"/>
            <a:ext cx="3383280" cy="365760"/>
          </a:xfrm>
          <a:prstGeom prst="rect">
            <a:avLst/>
          </a:prstGeom>
          <a:noFill/>
        </p:spPr>
        <p:txBody>
          <a:bodyPr wrap="square">
            <a:spAutoFit/>
          </a:bodyPr>
          <a:lstStyle/>
          <a:p>
            <a:pPr algn="ctr"/>
            <a:r>
              <a:rPr sz="850" b="0" i="0">
                <a:solidFill>
                  <a:srgbClr val="DA1E28"/>
                </a:solidFill>
              </a:rPr>
              <a:t>2-3 days  |  hand-written
environment drift risk</a:t>
            </a:r>
          </a:p>
        </p:txBody>
      </p:sp>
      <p:sp>
        <p:nvSpPr>
          <p:cNvPr id="23" name="TextBox 22"/>
          <p:cNvSpPr txBox="1"/>
          <p:nvPr/>
        </p:nvSpPr>
        <p:spPr>
          <a:xfrm>
            <a:off x="8037575" y="2029967"/>
            <a:ext cx="3840480" cy="365760"/>
          </a:xfrm>
          <a:prstGeom prst="rect">
            <a:avLst/>
          </a:prstGeom>
          <a:noFill/>
        </p:spPr>
        <p:txBody>
          <a:bodyPr wrap="square">
            <a:spAutoFit/>
          </a:bodyPr>
          <a:lstStyle/>
          <a:p>
            <a:pPr algn="ctr"/>
            <a:r>
              <a:rPr sz="850" b="0" i="0">
                <a:solidFill>
                  <a:srgbClr val="198038"/>
                </a:solidFill>
              </a:rPr>
              <a:t>2 hours  |  V001-V004, all FK indexes
idempotent, auto-applied on startup</a:t>
            </a:r>
          </a:p>
        </p:txBody>
      </p:sp>
      <p:sp>
        <p:nvSpPr>
          <p:cNvPr id="24" name="Rectangle 23"/>
          <p:cNvSpPr/>
          <p:nvPr/>
        </p:nvSpPr>
        <p:spPr>
          <a:xfrm>
            <a:off x="228600" y="2432304"/>
            <a:ext cx="4114800" cy="411480"/>
          </a:xfrm>
          <a:prstGeom prst="rect">
            <a:avLst/>
          </a:prstGeom>
          <a:solidFill>
            <a:srgbClr val="FAFA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61688" y="2432304"/>
            <a:ext cx="3566160" cy="411480"/>
          </a:xfrm>
          <a:prstGeom prst="rect">
            <a:avLst/>
          </a:prstGeom>
          <a:solidFill>
            <a:srgbClr val="FFD7D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946136" y="2432304"/>
            <a:ext cx="4023360" cy="411480"/>
          </a:xfrm>
          <a:prstGeom prst="rect">
            <a:avLst/>
          </a:prstGeom>
          <a:solidFill>
            <a:srgbClr val="DEF7E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2459736"/>
            <a:ext cx="3931920" cy="365760"/>
          </a:xfrm>
          <a:prstGeom prst="rect">
            <a:avLst/>
          </a:prstGeom>
          <a:noFill/>
        </p:spPr>
        <p:txBody>
          <a:bodyPr wrap="square">
            <a:spAutoFit/>
          </a:bodyPr>
          <a:lstStyle/>
          <a:p>
            <a:pPr algn="l"/>
            <a:r>
              <a:rPr sz="850" b="0" i="0">
                <a:solidFill>
                  <a:srgbClr val="161616"/>
                </a:solidFill>
              </a:rPr>
              <a:t>Snowflake provisioning (13 scripts)</a:t>
            </a:r>
          </a:p>
        </p:txBody>
      </p:sp>
      <p:sp>
        <p:nvSpPr>
          <p:cNvPr id="28" name="TextBox 27"/>
          <p:cNvSpPr txBox="1"/>
          <p:nvPr/>
        </p:nvSpPr>
        <p:spPr>
          <a:xfrm>
            <a:off x="4453128" y="2459736"/>
            <a:ext cx="3383280" cy="365760"/>
          </a:xfrm>
          <a:prstGeom prst="rect">
            <a:avLst/>
          </a:prstGeom>
          <a:noFill/>
        </p:spPr>
        <p:txBody>
          <a:bodyPr wrap="square">
            <a:spAutoFit/>
          </a:bodyPr>
          <a:lstStyle/>
          <a:p>
            <a:pPr algn="ctr"/>
            <a:r>
              <a:rPr sz="850" b="0" i="0">
                <a:solidFill>
                  <a:srgbClr val="DA1E28"/>
                </a:solidFill>
              </a:rPr>
              <a:t>3-4 days  |  no pre-flight safety
errors need manual cleanup</a:t>
            </a:r>
          </a:p>
        </p:txBody>
      </p:sp>
      <p:sp>
        <p:nvSpPr>
          <p:cNvPr id="29" name="TextBox 28"/>
          <p:cNvSpPr txBox="1"/>
          <p:nvPr/>
        </p:nvSpPr>
        <p:spPr>
          <a:xfrm>
            <a:off x="8037575" y="2459736"/>
            <a:ext cx="3840480" cy="365760"/>
          </a:xfrm>
          <a:prstGeom prst="rect">
            <a:avLst/>
          </a:prstGeom>
          <a:noFill/>
        </p:spPr>
        <p:txBody>
          <a:bodyPr wrap="square">
            <a:spAutoFit/>
          </a:bodyPr>
          <a:lstStyle/>
          <a:p>
            <a:pPr algn="ctr"/>
            <a:r>
              <a:rPr sz="850" b="0" i="0">
                <a:solidFill>
                  <a:srgbClr val="198038"/>
                </a:solidFill>
              </a:rPr>
              <a:t>0.5 days  |  aborting pre-flight checks
55 acceptance checks, FAIL_COUNT=0</a:t>
            </a:r>
          </a:p>
        </p:txBody>
      </p:sp>
      <p:sp>
        <p:nvSpPr>
          <p:cNvPr id="30" name="Rectangle 29"/>
          <p:cNvSpPr/>
          <p:nvPr/>
        </p:nvSpPr>
        <p:spPr>
          <a:xfrm>
            <a:off x="228600" y="2862072"/>
            <a:ext cx="4114800" cy="41148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361688" y="2862072"/>
            <a:ext cx="3566160" cy="411480"/>
          </a:xfrm>
          <a:prstGeom prst="rect">
            <a:avLst/>
          </a:prstGeom>
          <a:solidFill>
            <a:srgbClr val="FFD7D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946136" y="2862072"/>
            <a:ext cx="4023360" cy="411480"/>
          </a:xfrm>
          <a:prstGeom prst="rect">
            <a:avLst/>
          </a:prstGeom>
          <a:solidFill>
            <a:srgbClr val="DEF7E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2889503"/>
            <a:ext cx="3931920" cy="365760"/>
          </a:xfrm>
          <a:prstGeom prst="rect">
            <a:avLst/>
          </a:prstGeom>
          <a:noFill/>
        </p:spPr>
        <p:txBody>
          <a:bodyPr wrap="square">
            <a:spAutoFit/>
          </a:bodyPr>
          <a:lstStyle/>
          <a:p>
            <a:pPr algn="l"/>
            <a:r>
              <a:rPr sz="850" b="0" i="0">
                <a:solidFill>
                  <a:srgbClr val="161616"/>
                </a:solidFill>
              </a:rPr>
              <a:t>Spring Batch pipeline (3 jobs,
8 DSM entity types)</a:t>
            </a:r>
          </a:p>
        </p:txBody>
      </p:sp>
      <p:sp>
        <p:nvSpPr>
          <p:cNvPr id="34" name="TextBox 33"/>
          <p:cNvSpPr txBox="1"/>
          <p:nvPr/>
        </p:nvSpPr>
        <p:spPr>
          <a:xfrm>
            <a:off x="4453128" y="2889503"/>
            <a:ext cx="3383280" cy="365760"/>
          </a:xfrm>
          <a:prstGeom prst="rect">
            <a:avLst/>
          </a:prstGeom>
          <a:noFill/>
        </p:spPr>
        <p:txBody>
          <a:bodyPr wrap="square">
            <a:spAutoFit/>
          </a:bodyPr>
          <a:lstStyle/>
          <a:p>
            <a:pPr algn="ctr"/>
            <a:r>
              <a:rPr sz="850" b="0" i="0">
                <a:solidFill>
                  <a:srgbClr val="DA1E28"/>
                </a:solidFill>
              </a:rPr>
              <a:t>10-14 days  |  watermark bugs
retry/skip non-trivial</a:t>
            </a:r>
          </a:p>
        </p:txBody>
      </p:sp>
      <p:sp>
        <p:nvSpPr>
          <p:cNvPr id="35" name="TextBox 34"/>
          <p:cNvSpPr txBox="1"/>
          <p:nvPr/>
        </p:nvSpPr>
        <p:spPr>
          <a:xfrm>
            <a:off x="8037575" y="2889503"/>
            <a:ext cx="3840480" cy="365760"/>
          </a:xfrm>
          <a:prstGeom prst="rect">
            <a:avLst/>
          </a:prstGeom>
          <a:noFill/>
        </p:spPr>
        <p:txBody>
          <a:bodyPr wrap="square">
            <a:spAutoFit/>
          </a:bodyPr>
          <a:lstStyle/>
          <a:p>
            <a:pPr algn="ctr"/>
            <a:r>
              <a:rPr sz="850" b="0" i="0">
                <a:solidFill>
                  <a:srgbClr val="198038"/>
                </a:solidFill>
              </a:rPr>
              <a:t>3-4 days  |  all entities, ICA-traced
WatermarkService, FkResolution</a:t>
            </a:r>
          </a:p>
        </p:txBody>
      </p:sp>
      <p:sp>
        <p:nvSpPr>
          <p:cNvPr id="36" name="Rectangle 35"/>
          <p:cNvSpPr/>
          <p:nvPr/>
        </p:nvSpPr>
        <p:spPr>
          <a:xfrm>
            <a:off x="228600" y="3291839"/>
            <a:ext cx="4114800" cy="411480"/>
          </a:xfrm>
          <a:prstGeom prst="rect">
            <a:avLst/>
          </a:prstGeom>
          <a:solidFill>
            <a:srgbClr val="FAFAFA"/>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361688" y="3291839"/>
            <a:ext cx="3566160" cy="411480"/>
          </a:xfrm>
          <a:prstGeom prst="rect">
            <a:avLst/>
          </a:prstGeom>
          <a:solidFill>
            <a:srgbClr val="FFD7D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946136" y="3291839"/>
            <a:ext cx="4023360" cy="411480"/>
          </a:xfrm>
          <a:prstGeom prst="rect">
            <a:avLst/>
          </a:prstGeom>
          <a:solidFill>
            <a:srgbClr val="DEF7E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0040" y="3319271"/>
            <a:ext cx="3931920" cy="365760"/>
          </a:xfrm>
          <a:prstGeom prst="rect">
            <a:avLst/>
          </a:prstGeom>
          <a:noFill/>
        </p:spPr>
        <p:txBody>
          <a:bodyPr wrap="square">
            <a:spAutoFit/>
          </a:bodyPr>
          <a:lstStyle/>
          <a:p>
            <a:pPr algn="l"/>
            <a:r>
              <a:rPr sz="850" b="0" i="0">
                <a:solidFill>
                  <a:srgbClr val="161616"/>
                </a:solidFill>
              </a:rPr>
              <a:t>REST API + React Dashboard</a:t>
            </a:r>
          </a:p>
        </p:txBody>
      </p:sp>
      <p:sp>
        <p:nvSpPr>
          <p:cNvPr id="40" name="TextBox 39"/>
          <p:cNvSpPr txBox="1"/>
          <p:nvPr/>
        </p:nvSpPr>
        <p:spPr>
          <a:xfrm>
            <a:off x="4453128" y="3319271"/>
            <a:ext cx="3383280" cy="365760"/>
          </a:xfrm>
          <a:prstGeom prst="rect">
            <a:avLst/>
          </a:prstGeom>
          <a:noFill/>
        </p:spPr>
        <p:txBody>
          <a:bodyPr wrap="square">
            <a:spAutoFit/>
          </a:bodyPr>
          <a:lstStyle/>
          <a:p>
            <a:pPr algn="ctr"/>
            <a:r>
              <a:rPr sz="850" b="0" i="0">
                <a:solidFill>
                  <a:srgbClr val="DA1E28"/>
                </a:solidFill>
              </a:rPr>
              <a:t>8-11 days  |  separate frontend
resource needed</a:t>
            </a:r>
          </a:p>
        </p:txBody>
      </p:sp>
      <p:sp>
        <p:nvSpPr>
          <p:cNvPr id="41" name="TextBox 40"/>
          <p:cNvSpPr txBox="1"/>
          <p:nvPr/>
        </p:nvSpPr>
        <p:spPr>
          <a:xfrm>
            <a:off x="8037575" y="3319271"/>
            <a:ext cx="3840480" cy="365760"/>
          </a:xfrm>
          <a:prstGeom prst="rect">
            <a:avLst/>
          </a:prstGeom>
          <a:noFill/>
        </p:spPr>
        <p:txBody>
          <a:bodyPr wrap="square">
            <a:spAutoFit/>
          </a:bodyPr>
          <a:lstStyle/>
          <a:p>
            <a:pPr algn="ctr"/>
            <a:r>
              <a:rPr sz="850" b="0" i="0">
                <a:solidFill>
                  <a:srgbClr val="198038"/>
                </a:solidFill>
              </a:rPr>
              <a:t>1.5 days  |  typed Axios client
Recharts, live polling</a:t>
            </a:r>
          </a:p>
        </p:txBody>
      </p:sp>
      <p:sp>
        <p:nvSpPr>
          <p:cNvPr id="42" name="Rectangle 41"/>
          <p:cNvSpPr/>
          <p:nvPr/>
        </p:nvSpPr>
        <p:spPr>
          <a:xfrm>
            <a:off x="228600" y="3721607"/>
            <a:ext cx="4114800" cy="41148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361688" y="3721607"/>
            <a:ext cx="3566160" cy="411480"/>
          </a:xfrm>
          <a:prstGeom prst="rect">
            <a:avLst/>
          </a:prstGeom>
          <a:solidFill>
            <a:srgbClr val="FFD7D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946136" y="3721607"/>
            <a:ext cx="4023360" cy="411480"/>
          </a:xfrm>
          <a:prstGeom prst="rect">
            <a:avLst/>
          </a:prstGeom>
          <a:solidFill>
            <a:srgbClr val="DEF7E9"/>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0040" y="3749039"/>
            <a:ext cx="3931920" cy="365760"/>
          </a:xfrm>
          <a:prstGeom prst="rect">
            <a:avLst/>
          </a:prstGeom>
          <a:noFill/>
        </p:spPr>
        <p:txBody>
          <a:bodyPr wrap="square">
            <a:spAutoFit/>
          </a:bodyPr>
          <a:lstStyle/>
          <a:p>
            <a:pPr algn="l"/>
            <a:r>
              <a:rPr sz="850" b="0" i="0">
                <a:solidFill>
                  <a:srgbClr val="161616"/>
                </a:solidFill>
              </a:rPr>
              <a:t>Unit tests + Documentation</a:t>
            </a:r>
          </a:p>
        </p:txBody>
      </p:sp>
      <p:sp>
        <p:nvSpPr>
          <p:cNvPr id="46" name="TextBox 45"/>
          <p:cNvSpPr txBox="1"/>
          <p:nvPr/>
        </p:nvSpPr>
        <p:spPr>
          <a:xfrm>
            <a:off x="4453128" y="3749039"/>
            <a:ext cx="3383280" cy="365760"/>
          </a:xfrm>
          <a:prstGeom prst="rect">
            <a:avLst/>
          </a:prstGeom>
          <a:noFill/>
        </p:spPr>
        <p:txBody>
          <a:bodyPr wrap="square">
            <a:spAutoFit/>
          </a:bodyPr>
          <a:lstStyle/>
          <a:p>
            <a:pPr algn="ctr"/>
            <a:r>
              <a:rPr sz="850" b="0" i="0">
                <a:solidFill>
                  <a:srgbClr val="DA1E28"/>
                </a:solidFill>
              </a:rPr>
              <a:t>4-5 days  |  deferred, gaps
onboarding: 2-3 weeks</a:t>
            </a:r>
          </a:p>
        </p:txBody>
      </p:sp>
      <p:sp>
        <p:nvSpPr>
          <p:cNvPr id="47" name="TextBox 46"/>
          <p:cNvSpPr txBox="1"/>
          <p:nvPr/>
        </p:nvSpPr>
        <p:spPr>
          <a:xfrm>
            <a:off x="8037575" y="3749039"/>
            <a:ext cx="3840480" cy="365760"/>
          </a:xfrm>
          <a:prstGeom prst="rect">
            <a:avLst/>
          </a:prstGeom>
          <a:noFill/>
        </p:spPr>
        <p:txBody>
          <a:bodyPr wrap="square">
            <a:spAutoFit/>
          </a:bodyPr>
          <a:lstStyle/>
          <a:p>
            <a:pPr algn="ctr"/>
            <a:r>
              <a:rPr sz="850" b="0" i="0">
                <a:solidFill>
                  <a:srgbClr val="198038"/>
                </a:solidFill>
              </a:rPr>
              <a:t>0.5 days  |  44 tests, 0 failures
onboarding: 30 minutes</a:t>
            </a:r>
          </a:p>
        </p:txBody>
      </p:sp>
      <p:sp>
        <p:nvSpPr>
          <p:cNvPr id="48" name="Rectangle 47"/>
          <p:cNvSpPr/>
          <p:nvPr/>
        </p:nvSpPr>
        <p:spPr>
          <a:xfrm>
            <a:off x="228600" y="4151376"/>
            <a:ext cx="4114800" cy="411480"/>
          </a:xfrm>
          <a:prstGeom prst="rect">
            <a:avLst/>
          </a:prstGeom>
          <a:solidFill>
            <a:srgbClr val="262626"/>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361688" y="4151376"/>
            <a:ext cx="3566160" cy="411480"/>
          </a:xfrm>
          <a:prstGeom prst="rect">
            <a:avLst/>
          </a:prstGeom>
          <a:solidFill>
            <a:srgbClr val="DA1E28"/>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7946136" y="4151376"/>
            <a:ext cx="4023360" cy="411480"/>
          </a:xfrm>
          <a:prstGeom prst="rect">
            <a:avLst/>
          </a:prstGeom>
          <a:solidFill>
            <a:srgbClr val="198038"/>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20040" y="4178808"/>
            <a:ext cx="3931920" cy="365760"/>
          </a:xfrm>
          <a:prstGeom prst="rect">
            <a:avLst/>
          </a:prstGeom>
          <a:noFill/>
        </p:spPr>
        <p:txBody>
          <a:bodyPr wrap="square">
            <a:spAutoFit/>
          </a:bodyPr>
          <a:lstStyle/>
          <a:p>
            <a:pPr algn="l"/>
            <a:r>
              <a:rPr sz="850" b="1" i="0">
                <a:solidFill>
                  <a:srgbClr val="FFFFFF"/>
                </a:solidFill>
              </a:rPr>
              <a:t>TOTAL</a:t>
            </a:r>
          </a:p>
        </p:txBody>
      </p:sp>
      <p:sp>
        <p:nvSpPr>
          <p:cNvPr id="52" name="TextBox 51"/>
          <p:cNvSpPr txBox="1"/>
          <p:nvPr/>
        </p:nvSpPr>
        <p:spPr>
          <a:xfrm>
            <a:off x="4453128" y="4178808"/>
            <a:ext cx="3383280" cy="365760"/>
          </a:xfrm>
          <a:prstGeom prst="rect">
            <a:avLst/>
          </a:prstGeom>
          <a:noFill/>
        </p:spPr>
        <p:txBody>
          <a:bodyPr wrap="square">
            <a:spAutoFit/>
          </a:bodyPr>
          <a:lstStyle/>
          <a:p>
            <a:pPr algn="ctr"/>
            <a:r>
              <a:rPr sz="850" b="1" i="0">
                <a:solidFill>
                  <a:srgbClr val="FFFFFF"/>
                </a:solidFill>
              </a:rPr>
              <a:t>6-8 WEEKS  |  3 people</a:t>
            </a:r>
          </a:p>
        </p:txBody>
      </p:sp>
      <p:sp>
        <p:nvSpPr>
          <p:cNvPr id="53" name="TextBox 52"/>
          <p:cNvSpPr txBox="1"/>
          <p:nvPr/>
        </p:nvSpPr>
        <p:spPr>
          <a:xfrm>
            <a:off x="8037575" y="4178808"/>
            <a:ext cx="3840480" cy="365760"/>
          </a:xfrm>
          <a:prstGeom prst="rect">
            <a:avLst/>
          </a:prstGeom>
          <a:noFill/>
        </p:spPr>
        <p:txBody>
          <a:bodyPr wrap="square">
            <a:spAutoFit/>
          </a:bodyPr>
          <a:lstStyle/>
          <a:p>
            <a:pPr algn="ctr"/>
            <a:r>
              <a:rPr sz="850" b="1" i="0">
                <a:solidFill>
                  <a:srgbClr val="FFFFFF"/>
                </a:solidFill>
              </a:rPr>
              <a:t>~2 WEEKS  |  1 person  (75% faster)</a:t>
            </a:r>
          </a:p>
        </p:txBody>
      </p:sp>
      <p:sp>
        <p:nvSpPr>
          <p:cNvPr id="54" name="Rectangle 53"/>
          <p:cNvSpPr/>
          <p:nvPr/>
        </p:nvSpPr>
        <p:spPr>
          <a:xfrm>
            <a:off x="0" y="6803136"/>
            <a:ext cx="12188952" cy="54864"/>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82880" y="6821424"/>
            <a:ext cx="11795760" cy="200055"/>
          </a:xfrm>
          <a:prstGeom prst="rect">
            <a:avLst/>
          </a:prstGeom>
          <a:noFill/>
        </p:spPr>
        <p:txBody>
          <a:bodyPr wrap="square">
            <a:spAutoFit/>
          </a:bodyPr>
          <a:lstStyle/>
          <a:p>
            <a:pPr algn="ctr"/>
            <a:r>
              <a:rPr sz="700" b="0" i="0" dirty="0">
                <a:solidFill>
                  <a:srgbClr val="FFFFFF"/>
                </a:solidFill>
              </a:rPr>
              <a:t>National Grid DSM  |  CDP Snowflake Loader  |  IBM Bob Level 3  |  Althaf P M  |  </a:t>
            </a:r>
            <a:r>
              <a:rPr lang="en-IN" sz="700" b="0" i="0" dirty="0">
                <a:solidFill>
                  <a:srgbClr val="FFFFFF"/>
                </a:solidFill>
              </a:rPr>
              <a:t>2026</a:t>
            </a:r>
            <a:endParaRPr sz="700" b="0" i="0" dirty="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256032"/>
            <a:ext cx="8229600" cy="475488"/>
          </a:xfrm>
          <a:prstGeom prst="rect">
            <a:avLst/>
          </a:prstGeom>
          <a:noFill/>
        </p:spPr>
        <p:txBody>
          <a:bodyPr wrap="square">
            <a:spAutoFit/>
          </a:bodyPr>
          <a:lstStyle/>
          <a:p>
            <a:pPr algn="l"/>
            <a:r>
              <a:rPr sz="2400" b="1" i="0">
                <a:solidFill>
                  <a:srgbClr val="0043CE"/>
                </a:solidFill>
              </a:rPr>
              <a:t>Solution Architecture</a:t>
            </a:r>
          </a:p>
        </p:txBody>
      </p:sp>
      <p:sp>
        <p:nvSpPr>
          <p:cNvPr id="4" name="TextBox 3"/>
          <p:cNvSpPr txBox="1"/>
          <p:nvPr/>
        </p:nvSpPr>
        <p:spPr>
          <a:xfrm>
            <a:off x="274320" y="749808"/>
            <a:ext cx="11430000" cy="320040"/>
          </a:xfrm>
          <a:prstGeom prst="rect">
            <a:avLst/>
          </a:prstGeom>
          <a:noFill/>
        </p:spPr>
        <p:txBody>
          <a:bodyPr wrap="square">
            <a:spAutoFit/>
          </a:bodyPr>
          <a:lstStyle/>
          <a:p>
            <a:pPr algn="l"/>
            <a:r>
              <a:rPr sz="1200" b="0" i="0">
                <a:solidFill>
                  <a:srgbClr val="525252"/>
                </a:solidFill>
              </a:rPr>
              <a:t>Snowflake (CDP)  →  Spring Batch  →  DSM Oracle Tables  |  React Dashboard  |  ICA Governance</a:t>
            </a:r>
          </a:p>
        </p:txBody>
      </p:sp>
      <p:sp>
        <p:nvSpPr>
          <p:cNvPr id="5" name="Rectangle 4"/>
          <p:cNvSpPr/>
          <p:nvPr/>
        </p:nvSpPr>
        <p:spPr>
          <a:xfrm>
            <a:off x="182880" y="1097280"/>
            <a:ext cx="11795760" cy="18288"/>
          </a:xfrm>
          <a:prstGeom prst="rect">
            <a:avLst/>
          </a:prstGeom>
          <a:solidFill>
            <a:srgbClr val="D0E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1188720"/>
            <a:ext cx="2377440" cy="3108960"/>
          </a:xfrm>
          <a:prstGeom prst="rect">
            <a:avLst/>
          </a:prstGeom>
          <a:solidFill>
            <a:srgbClr val="FFF1C2"/>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234440"/>
            <a:ext cx="2194560" cy="256032"/>
          </a:xfrm>
          <a:prstGeom prst="rect">
            <a:avLst/>
          </a:prstGeom>
          <a:noFill/>
        </p:spPr>
        <p:txBody>
          <a:bodyPr wrap="square">
            <a:spAutoFit/>
          </a:bodyPr>
          <a:lstStyle/>
          <a:p>
            <a:pPr algn="ctr"/>
            <a:r>
              <a:rPr sz="800" b="1" i="0">
                <a:solidFill>
                  <a:srgbClr val="854D0E"/>
                </a:solidFill>
              </a:rPr>
              <a:t>SOURCE</a:t>
            </a:r>
          </a:p>
        </p:txBody>
      </p:sp>
      <p:sp>
        <p:nvSpPr>
          <p:cNvPr id="8" name="Rectangle 7"/>
          <p:cNvSpPr/>
          <p:nvPr/>
        </p:nvSpPr>
        <p:spPr>
          <a:xfrm>
            <a:off x="320040" y="1554480"/>
            <a:ext cx="2103120" cy="978408"/>
          </a:xfrm>
          <a:prstGeom prst="rect">
            <a:avLst/>
          </a:prstGeom>
          <a:solidFill>
            <a:srgbClr val="FFFFFF"/>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609344"/>
            <a:ext cx="2103120" cy="502920"/>
          </a:xfrm>
          <a:prstGeom prst="rect">
            <a:avLst/>
          </a:prstGeom>
          <a:noFill/>
        </p:spPr>
        <p:txBody>
          <a:bodyPr wrap="square">
            <a:spAutoFit/>
          </a:bodyPr>
          <a:lstStyle/>
          <a:p>
            <a:pPr algn="ctr"/>
            <a:r>
              <a:rPr sz="1000" b="1" i="0">
                <a:solidFill>
                  <a:srgbClr val="161616"/>
                </a:solidFill>
              </a:rPr>
              <a:t>Snowflake
CDP_UTIL_DB</a:t>
            </a:r>
          </a:p>
        </p:txBody>
      </p:sp>
      <p:sp>
        <p:nvSpPr>
          <p:cNvPr id="10" name="TextBox 9"/>
          <p:cNvSpPr txBox="1"/>
          <p:nvPr/>
        </p:nvSpPr>
        <p:spPr>
          <a:xfrm>
            <a:off x="320040" y="2121408"/>
            <a:ext cx="2103120" cy="411480"/>
          </a:xfrm>
          <a:prstGeom prst="rect">
            <a:avLst/>
          </a:prstGeom>
          <a:noFill/>
        </p:spPr>
        <p:txBody>
          <a:bodyPr wrap="square">
            <a:spAutoFit/>
          </a:bodyPr>
          <a:lstStyle/>
          <a:p>
            <a:pPr algn="ctr"/>
            <a:r>
              <a:rPr sz="800" b="0" i="0" dirty="0">
                <a:solidFill>
                  <a:srgbClr val="525252"/>
                </a:solidFill>
              </a:rPr>
              <a:t>CUSTOMER / BILLING
STAGING export views</a:t>
            </a:r>
          </a:p>
        </p:txBody>
      </p:sp>
      <p:sp>
        <p:nvSpPr>
          <p:cNvPr id="11" name="Rectangle 10"/>
          <p:cNvSpPr/>
          <p:nvPr/>
        </p:nvSpPr>
        <p:spPr>
          <a:xfrm>
            <a:off x="365760" y="2961957"/>
            <a:ext cx="2103120" cy="640080"/>
          </a:xfrm>
          <a:prstGeom prst="rect">
            <a:avLst/>
          </a:prstGeom>
          <a:solidFill>
            <a:srgbClr val="FFFFFF"/>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345" y="3118104"/>
            <a:ext cx="2103120" cy="502920"/>
          </a:xfrm>
          <a:prstGeom prst="rect">
            <a:avLst/>
          </a:prstGeom>
          <a:noFill/>
        </p:spPr>
        <p:txBody>
          <a:bodyPr wrap="square">
            <a:spAutoFit/>
          </a:bodyPr>
          <a:lstStyle/>
          <a:p>
            <a:pPr algn="ctr"/>
            <a:r>
              <a:rPr sz="850" b="0" i="0" dirty="0">
                <a:solidFill>
                  <a:srgbClr val="161616"/>
                </a:solidFill>
              </a:rPr>
              <a:t>CSS → Kraken (future)
→ CDP Snowflake</a:t>
            </a:r>
          </a:p>
        </p:txBody>
      </p:sp>
      <p:sp>
        <p:nvSpPr>
          <p:cNvPr id="13" name="Rectangle 12"/>
          <p:cNvSpPr/>
          <p:nvPr/>
        </p:nvSpPr>
        <p:spPr>
          <a:xfrm>
            <a:off x="2880360" y="1188720"/>
            <a:ext cx="5943600" cy="3108960"/>
          </a:xfrm>
          <a:prstGeom prst="rect">
            <a:avLst/>
          </a:prstGeom>
          <a:solidFill>
            <a:srgbClr val="D0E2FF"/>
          </a:solidFill>
          <a:ln w="12700">
            <a:solidFill>
              <a:srgbClr val="004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71800" y="1234440"/>
            <a:ext cx="5760720" cy="256032"/>
          </a:xfrm>
          <a:prstGeom prst="rect">
            <a:avLst/>
          </a:prstGeom>
          <a:noFill/>
        </p:spPr>
        <p:txBody>
          <a:bodyPr wrap="square">
            <a:spAutoFit/>
          </a:bodyPr>
          <a:lstStyle/>
          <a:p>
            <a:pPr algn="ctr"/>
            <a:r>
              <a:rPr sz="800" b="1" i="0">
                <a:solidFill>
                  <a:srgbClr val="0043CE"/>
                </a:solidFill>
              </a:rPr>
              <a:t>APPLICATION SERVER</a:t>
            </a:r>
          </a:p>
        </p:txBody>
      </p:sp>
      <p:sp>
        <p:nvSpPr>
          <p:cNvPr id="15" name="Rectangle 14"/>
          <p:cNvSpPr/>
          <p:nvPr/>
        </p:nvSpPr>
        <p:spPr>
          <a:xfrm>
            <a:off x="3063240" y="1572768"/>
            <a:ext cx="2286000" cy="658368"/>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63240" y="1627632"/>
            <a:ext cx="2286000" cy="548640"/>
          </a:xfrm>
          <a:prstGeom prst="rect">
            <a:avLst/>
          </a:prstGeom>
          <a:noFill/>
        </p:spPr>
        <p:txBody>
          <a:bodyPr wrap="square">
            <a:spAutoFit/>
          </a:bodyPr>
          <a:lstStyle/>
          <a:p>
            <a:pPr algn="ctr"/>
            <a:r>
              <a:rPr sz="900" b="0" i="0">
                <a:solidFill>
                  <a:srgbClr val="FFFFFF"/>
                </a:solidFill>
              </a:rPr>
              <a:t>Spring Boot REST API
:8080 | Swagger</a:t>
            </a:r>
          </a:p>
        </p:txBody>
      </p:sp>
      <p:sp>
        <p:nvSpPr>
          <p:cNvPr id="17" name="Rectangle 16"/>
          <p:cNvSpPr/>
          <p:nvPr/>
        </p:nvSpPr>
        <p:spPr>
          <a:xfrm>
            <a:off x="5532120" y="1572768"/>
            <a:ext cx="2286000" cy="658368"/>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32120" y="1609344"/>
            <a:ext cx="2286000" cy="603504"/>
          </a:xfrm>
          <a:prstGeom prst="rect">
            <a:avLst/>
          </a:prstGeom>
          <a:noFill/>
        </p:spPr>
        <p:txBody>
          <a:bodyPr wrap="square">
            <a:spAutoFit/>
          </a:bodyPr>
          <a:lstStyle/>
          <a:p>
            <a:pPr algn="ctr"/>
            <a:r>
              <a:rPr sz="850" b="0" i="0">
                <a:solidFill>
                  <a:srgbClr val="FFFFFF"/>
                </a:solidFill>
              </a:rPr>
              <a:t>Scheduler
@Scheduled cron
Initial/Daily/Monthly</a:t>
            </a:r>
          </a:p>
        </p:txBody>
      </p:sp>
      <p:sp>
        <p:nvSpPr>
          <p:cNvPr id="19" name="Rectangle 18"/>
          <p:cNvSpPr/>
          <p:nvPr/>
        </p:nvSpPr>
        <p:spPr>
          <a:xfrm>
            <a:off x="3063240" y="2377440"/>
            <a:ext cx="5577840" cy="1737360"/>
          </a:xfrm>
          <a:prstGeom prst="rect">
            <a:avLst/>
          </a:prstGeom>
          <a:solidFill>
            <a:srgbClr val="FFFFFF"/>
          </a:solidFill>
          <a:ln w="9525">
            <a:solidFill>
              <a:srgbClr val="004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63240" y="2404872"/>
            <a:ext cx="5577840" cy="292608"/>
          </a:xfrm>
          <a:prstGeom prst="rect">
            <a:avLst/>
          </a:prstGeom>
          <a:noFill/>
        </p:spPr>
        <p:txBody>
          <a:bodyPr wrap="square">
            <a:spAutoFit/>
          </a:bodyPr>
          <a:lstStyle/>
          <a:p>
            <a:pPr algn="ctr"/>
            <a:r>
              <a:rPr sz="1000" b="1" i="0">
                <a:solidFill>
                  <a:srgbClr val="0043CE"/>
                </a:solidFill>
              </a:rPr>
              <a:t>Spring Batch Engine</a:t>
            </a:r>
          </a:p>
        </p:txBody>
      </p:sp>
      <p:sp>
        <p:nvSpPr>
          <p:cNvPr id="21" name="TextBox 20"/>
          <p:cNvSpPr txBox="1"/>
          <p:nvPr/>
        </p:nvSpPr>
        <p:spPr>
          <a:xfrm>
            <a:off x="3063240" y="2679192"/>
            <a:ext cx="5577840" cy="256032"/>
          </a:xfrm>
          <a:prstGeom prst="rect">
            <a:avLst/>
          </a:prstGeom>
          <a:noFill/>
        </p:spPr>
        <p:txBody>
          <a:bodyPr wrap="square">
            <a:spAutoFit/>
          </a:bodyPr>
          <a:lstStyle/>
          <a:p>
            <a:pPr algn="ctr"/>
            <a:r>
              <a:rPr sz="850" b="0" i="0">
                <a:solidFill>
                  <a:srgbClr val="525252"/>
                </a:solidFill>
              </a:rPr>
              <a:t>InitialLoadJob  ·  DailyIncrementalJob  ·  MonthlyUsageJob</a:t>
            </a:r>
          </a:p>
        </p:txBody>
      </p:sp>
      <p:sp>
        <p:nvSpPr>
          <p:cNvPr id="22" name="TextBox 21"/>
          <p:cNvSpPr txBox="1"/>
          <p:nvPr/>
        </p:nvSpPr>
        <p:spPr>
          <a:xfrm>
            <a:off x="3063240" y="2926080"/>
            <a:ext cx="5577840" cy="256032"/>
          </a:xfrm>
          <a:prstGeom prst="rect">
            <a:avLst/>
          </a:prstGeom>
          <a:noFill/>
        </p:spPr>
        <p:txBody>
          <a:bodyPr wrap="square">
            <a:spAutoFit/>
          </a:bodyPr>
          <a:lstStyle/>
          <a:p>
            <a:pPr algn="ctr"/>
            <a:r>
              <a:rPr sz="800" b="0" i="0">
                <a:solidFill>
                  <a:srgbClr val="161616"/>
                </a:solidFill>
              </a:rPr>
              <a:t>ItemReaders (Snowflake JDBC)  →  ItemProcessors (ICA rules)  →  ItemWriters (Oracle MERGE)</a:t>
            </a:r>
          </a:p>
        </p:txBody>
      </p:sp>
      <p:sp>
        <p:nvSpPr>
          <p:cNvPr id="23" name="TextBox 22"/>
          <p:cNvSpPr txBox="1"/>
          <p:nvPr/>
        </p:nvSpPr>
        <p:spPr>
          <a:xfrm>
            <a:off x="3063240" y="3182112"/>
            <a:ext cx="5577840" cy="256032"/>
          </a:xfrm>
          <a:prstGeom prst="rect">
            <a:avLst/>
          </a:prstGeom>
          <a:noFill/>
        </p:spPr>
        <p:txBody>
          <a:bodyPr wrap="square">
            <a:spAutoFit/>
          </a:bodyPr>
          <a:lstStyle/>
          <a:p>
            <a:pPr algn="ctr"/>
            <a:r>
              <a:rPr sz="800" b="0" i="0">
                <a:solidFill>
                  <a:srgbClr val="161616"/>
                </a:solidFill>
              </a:rPr>
              <a:t>WatermarkService  ·  FkResolutionService  ·  SkipPolicy → ETL_RECORD_ERROR</a:t>
            </a:r>
          </a:p>
        </p:txBody>
      </p:sp>
      <p:sp>
        <p:nvSpPr>
          <p:cNvPr id="24" name="TextBox 23"/>
          <p:cNvSpPr txBox="1"/>
          <p:nvPr/>
        </p:nvSpPr>
        <p:spPr>
          <a:xfrm>
            <a:off x="3063240" y="3456432"/>
            <a:ext cx="5577840" cy="256032"/>
          </a:xfrm>
          <a:prstGeom prst="rect">
            <a:avLst/>
          </a:prstGeom>
          <a:noFill/>
        </p:spPr>
        <p:txBody>
          <a:bodyPr wrap="square">
            <a:spAutoFit/>
          </a:bodyPr>
          <a:lstStyle/>
          <a:p>
            <a:pPr algn="ctr"/>
            <a:r>
              <a:rPr sz="800" b="0" i="1">
                <a:solidFill>
                  <a:srgbClr val="525252"/>
                </a:solidFill>
              </a:rPr>
              <a:t>Flyway V001-V004 DDL (auto-applied on startup)</a:t>
            </a:r>
          </a:p>
        </p:txBody>
      </p:sp>
      <p:sp>
        <p:nvSpPr>
          <p:cNvPr id="25" name="Rectangle 24"/>
          <p:cNvSpPr/>
          <p:nvPr/>
        </p:nvSpPr>
        <p:spPr>
          <a:xfrm>
            <a:off x="9144000" y="1188720"/>
            <a:ext cx="2834640" cy="3108960"/>
          </a:xfrm>
          <a:prstGeom prst="rect">
            <a:avLst/>
          </a:prstGeom>
          <a:solidFill>
            <a:srgbClr val="DEF7E9"/>
          </a:solidFill>
          <a:ln w="12700">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234440"/>
            <a:ext cx="2651760" cy="256032"/>
          </a:xfrm>
          <a:prstGeom prst="rect">
            <a:avLst/>
          </a:prstGeom>
          <a:noFill/>
        </p:spPr>
        <p:txBody>
          <a:bodyPr wrap="square">
            <a:spAutoFit/>
          </a:bodyPr>
          <a:lstStyle/>
          <a:p>
            <a:pPr algn="ctr"/>
            <a:r>
              <a:rPr sz="800" b="1" i="0">
                <a:solidFill>
                  <a:srgbClr val="198038"/>
                </a:solidFill>
              </a:rPr>
              <a:t>TARGET (DSM)</a:t>
            </a:r>
          </a:p>
        </p:txBody>
      </p:sp>
      <p:sp>
        <p:nvSpPr>
          <p:cNvPr id="27" name="Rectangle 26"/>
          <p:cNvSpPr/>
          <p:nvPr/>
        </p:nvSpPr>
        <p:spPr>
          <a:xfrm>
            <a:off x="9281160" y="1554480"/>
            <a:ext cx="2560320" cy="658368"/>
          </a:xfrm>
          <a:prstGeom prst="rect">
            <a:avLst/>
          </a:prstGeom>
          <a:solidFill>
            <a:srgbClr val="FFFFFF"/>
          </a:solidFill>
          <a:ln w="9525">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81160" y="1609344"/>
            <a:ext cx="2560320" cy="400110"/>
          </a:xfrm>
          <a:prstGeom prst="rect">
            <a:avLst/>
          </a:prstGeom>
          <a:noFill/>
        </p:spPr>
        <p:txBody>
          <a:bodyPr wrap="square">
            <a:spAutoFit/>
          </a:bodyPr>
          <a:lstStyle/>
          <a:p>
            <a:pPr algn="ctr"/>
            <a:r>
              <a:rPr sz="1000" b="1" i="0" dirty="0">
                <a:solidFill>
                  <a:srgbClr val="161616"/>
                </a:solidFill>
              </a:rPr>
              <a:t>Oracle </a:t>
            </a:r>
            <a:r>
              <a:rPr lang="en-IN" sz="1000" b="1" i="0" dirty="0">
                <a:solidFill>
                  <a:srgbClr val="161616"/>
                </a:solidFill>
              </a:rPr>
              <a:t>19c</a:t>
            </a:r>
            <a:r>
              <a:rPr sz="1000" b="1" i="0" dirty="0">
                <a:solidFill>
                  <a:srgbClr val="161616"/>
                </a:solidFill>
              </a:rPr>
              <a:t>
DSM Schema</a:t>
            </a:r>
          </a:p>
        </p:txBody>
      </p:sp>
      <p:sp>
        <p:nvSpPr>
          <p:cNvPr id="29" name="Rectangle 28"/>
          <p:cNvSpPr/>
          <p:nvPr/>
        </p:nvSpPr>
        <p:spPr>
          <a:xfrm>
            <a:off x="9281160" y="2304288"/>
            <a:ext cx="2560320" cy="658368"/>
          </a:xfrm>
          <a:prstGeom prst="rect">
            <a:avLst/>
          </a:prstGeom>
          <a:solidFill>
            <a:srgbClr val="FFFFFF"/>
          </a:solidFill>
          <a:ln w="9525">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81160" y="2340864"/>
            <a:ext cx="2560320" cy="594360"/>
          </a:xfrm>
          <a:prstGeom prst="rect">
            <a:avLst/>
          </a:prstGeom>
          <a:noFill/>
        </p:spPr>
        <p:txBody>
          <a:bodyPr wrap="square">
            <a:spAutoFit/>
          </a:bodyPr>
          <a:lstStyle/>
          <a:p>
            <a:pPr algn="ctr"/>
            <a:r>
              <a:rPr sz="850" b="0" i="0">
                <a:solidFill>
                  <a:srgbClr val="161616"/>
                </a:solidFill>
              </a:rPr>
              <a:t>TGT_CUSTOMER
TGT_ENERGY_ACCOUNT
+5 DSM tables</a:t>
            </a:r>
          </a:p>
        </p:txBody>
      </p:sp>
      <p:sp>
        <p:nvSpPr>
          <p:cNvPr id="31" name="Rectangle 30"/>
          <p:cNvSpPr/>
          <p:nvPr/>
        </p:nvSpPr>
        <p:spPr>
          <a:xfrm>
            <a:off x="9281160" y="3063240"/>
            <a:ext cx="2560320" cy="566928"/>
          </a:xfrm>
          <a:prstGeom prst="rect">
            <a:avLst/>
          </a:prstGeom>
          <a:solidFill>
            <a:srgbClr val="FFFFFF"/>
          </a:solidFill>
          <a:ln w="9525">
            <a:solidFill>
              <a:srgbClr val="1980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281160" y="3090672"/>
            <a:ext cx="2560320" cy="530352"/>
          </a:xfrm>
          <a:prstGeom prst="rect">
            <a:avLst/>
          </a:prstGeom>
          <a:noFill/>
        </p:spPr>
        <p:txBody>
          <a:bodyPr wrap="square">
            <a:spAutoFit/>
          </a:bodyPr>
          <a:lstStyle/>
          <a:p>
            <a:pPr algn="ctr"/>
            <a:r>
              <a:rPr sz="800" b="0" i="0">
                <a:solidFill>
                  <a:srgbClr val="161616"/>
                </a:solidFill>
              </a:rPr>
              <a:t>ETL_WATERMARK
ETL_JOB_RUN
ETL_RECONCILIATION</a:t>
            </a:r>
          </a:p>
        </p:txBody>
      </p:sp>
      <p:sp>
        <p:nvSpPr>
          <p:cNvPr id="33" name="Rectangle 32"/>
          <p:cNvSpPr/>
          <p:nvPr/>
        </p:nvSpPr>
        <p:spPr>
          <a:xfrm>
            <a:off x="182880" y="4434840"/>
            <a:ext cx="2377440" cy="1097280"/>
          </a:xfrm>
          <a:prstGeom prst="rect">
            <a:avLst/>
          </a:prstGeom>
          <a:solidFill>
            <a:srgbClr val="EDE9FE"/>
          </a:solidFill>
          <a:ln w="12700">
            <a:solidFill>
              <a:srgbClr val="6929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4320" y="4480560"/>
            <a:ext cx="2194560" cy="256032"/>
          </a:xfrm>
          <a:prstGeom prst="rect">
            <a:avLst/>
          </a:prstGeom>
          <a:noFill/>
        </p:spPr>
        <p:txBody>
          <a:bodyPr wrap="square">
            <a:spAutoFit/>
          </a:bodyPr>
          <a:lstStyle/>
          <a:p>
            <a:pPr algn="ctr"/>
            <a:r>
              <a:rPr sz="800" b="1" i="0">
                <a:solidFill>
                  <a:srgbClr val="6929D0"/>
                </a:solidFill>
              </a:rPr>
              <a:t>FRONTEND</a:t>
            </a:r>
          </a:p>
        </p:txBody>
      </p:sp>
      <p:sp>
        <p:nvSpPr>
          <p:cNvPr id="35" name="TextBox 34"/>
          <p:cNvSpPr txBox="1"/>
          <p:nvPr/>
        </p:nvSpPr>
        <p:spPr>
          <a:xfrm>
            <a:off x="274320" y="4754880"/>
            <a:ext cx="2194560" cy="685800"/>
          </a:xfrm>
          <a:prstGeom prst="rect">
            <a:avLst/>
          </a:prstGeom>
          <a:noFill/>
        </p:spPr>
        <p:txBody>
          <a:bodyPr wrap="square">
            <a:spAutoFit/>
          </a:bodyPr>
          <a:lstStyle/>
          <a:p>
            <a:pPr algn="ctr"/>
            <a:r>
              <a:rPr sz="900" b="0" i="0">
                <a:solidFill>
                  <a:srgbClr val="161616"/>
                </a:solidFill>
              </a:rPr>
              <a:t>React + TypeScript
Vite :5173
Recharts Dashboard</a:t>
            </a:r>
          </a:p>
        </p:txBody>
      </p:sp>
      <p:sp>
        <p:nvSpPr>
          <p:cNvPr id="36" name="Rectangle 35"/>
          <p:cNvSpPr/>
          <p:nvPr/>
        </p:nvSpPr>
        <p:spPr>
          <a:xfrm>
            <a:off x="182880" y="5650992"/>
            <a:ext cx="11795760" cy="475488"/>
          </a:xfrm>
          <a:prstGeom prst="rect">
            <a:avLst/>
          </a:prstGeom>
          <a:solidFill>
            <a:srgbClr val="F4F4F4"/>
          </a:solidFill>
          <a:ln w="9525">
            <a:solidFill>
              <a:srgbClr val="C6C6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65760" y="5705856"/>
            <a:ext cx="11521440" cy="384048"/>
          </a:xfrm>
          <a:prstGeom prst="rect">
            <a:avLst/>
          </a:prstGeom>
          <a:noFill/>
        </p:spPr>
        <p:txBody>
          <a:bodyPr wrap="square">
            <a:spAutoFit/>
          </a:bodyPr>
          <a:lstStyle/>
          <a:p>
            <a:pPr algn="ctr"/>
            <a:r>
              <a:rPr sz="900" b="0" i="1">
                <a:solidFill>
                  <a:srgbClr val="525252"/>
                </a:solidFill>
              </a:rPr>
              <a:t>GOVERNANCE (Design-time)  —  IBM Bob / ICA Context Studio (MCP)  ·  17 docs: GL, CM, TR, VR, Error, Recon rules  →  code  →  tests  →  docs</a:t>
            </a:r>
          </a:p>
        </p:txBody>
      </p:sp>
      <p:sp>
        <p:nvSpPr>
          <p:cNvPr id="38" name="TextBox 37"/>
          <p:cNvSpPr txBox="1"/>
          <p:nvPr/>
        </p:nvSpPr>
        <p:spPr>
          <a:xfrm>
            <a:off x="2578608" y="2761488"/>
            <a:ext cx="347472" cy="256032"/>
          </a:xfrm>
          <a:prstGeom prst="rect">
            <a:avLst/>
          </a:prstGeom>
          <a:noFill/>
        </p:spPr>
        <p:txBody>
          <a:bodyPr wrap="square">
            <a:spAutoFit/>
          </a:bodyPr>
          <a:lstStyle/>
          <a:p>
            <a:pPr algn="l"/>
            <a:r>
              <a:rPr sz="800" b="1" i="0">
                <a:solidFill>
                  <a:srgbClr val="D97706"/>
                </a:solidFill>
              </a:rPr>
              <a:t>JDBC read →</a:t>
            </a:r>
          </a:p>
        </p:txBody>
      </p:sp>
      <p:sp>
        <p:nvSpPr>
          <p:cNvPr id="39" name="TextBox 38"/>
          <p:cNvSpPr txBox="1"/>
          <p:nvPr/>
        </p:nvSpPr>
        <p:spPr>
          <a:xfrm>
            <a:off x="8641080" y="2761488"/>
            <a:ext cx="548640" cy="256032"/>
          </a:xfrm>
          <a:prstGeom prst="rect">
            <a:avLst/>
          </a:prstGeom>
          <a:noFill/>
        </p:spPr>
        <p:txBody>
          <a:bodyPr wrap="square">
            <a:spAutoFit/>
          </a:bodyPr>
          <a:lstStyle/>
          <a:p>
            <a:pPr algn="l"/>
            <a:r>
              <a:rPr sz="800" b="1" i="0">
                <a:solidFill>
                  <a:srgbClr val="198038"/>
                </a:solidFill>
              </a:rPr>
              <a:t>→ MERGE</a:t>
            </a:r>
          </a:p>
        </p:txBody>
      </p:sp>
      <p:sp>
        <p:nvSpPr>
          <p:cNvPr id="40" name="TextBox 39"/>
          <p:cNvSpPr txBox="1"/>
          <p:nvPr/>
        </p:nvSpPr>
        <p:spPr>
          <a:xfrm>
            <a:off x="1481328" y="4206240"/>
            <a:ext cx="1371600" cy="256032"/>
          </a:xfrm>
          <a:prstGeom prst="rect">
            <a:avLst/>
          </a:prstGeom>
          <a:noFill/>
        </p:spPr>
        <p:txBody>
          <a:bodyPr wrap="square">
            <a:spAutoFit/>
          </a:bodyPr>
          <a:lstStyle/>
          <a:p>
            <a:pPr algn="ctr"/>
            <a:r>
              <a:rPr sz="800" b="0" i="0">
                <a:solidFill>
                  <a:srgbClr val="6929D0"/>
                </a:solidFill>
              </a:rPr>
              <a:t>REST</a:t>
            </a:r>
          </a:p>
        </p:txBody>
      </p:sp>
      <p:sp>
        <p:nvSpPr>
          <p:cNvPr id="41" name="Rectangle 40"/>
          <p:cNvSpPr/>
          <p:nvPr/>
        </p:nvSpPr>
        <p:spPr>
          <a:xfrm>
            <a:off x="228600" y="6291072"/>
            <a:ext cx="11750040" cy="347472"/>
          </a:xfrm>
          <a:prstGeom prst="rect">
            <a:avLst/>
          </a:prstGeom>
          <a:solidFill>
            <a:srgbClr val="39393A"/>
          </a:solidFill>
          <a:ln w="635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65760" y="6309360"/>
            <a:ext cx="11521440" cy="320040"/>
          </a:xfrm>
          <a:prstGeom prst="rect">
            <a:avLst/>
          </a:prstGeom>
          <a:noFill/>
        </p:spPr>
        <p:txBody>
          <a:bodyPr wrap="square">
            <a:spAutoFit/>
          </a:bodyPr>
          <a:lstStyle/>
          <a:p>
            <a:pPr algn="l"/>
            <a:r>
              <a:rPr sz="800" b="0" i="1">
                <a:solidFill>
                  <a:srgbClr val="C6C6C6"/>
                </a:solidFill>
              </a:rPr>
              <a:t>SCRIPT [1:12-1:28]  "Here is the architecture: Snowflake as source, Spring Batch as the engine, Oracle DSM tables as the target. The ICA context studio feeds Bob with mapping rules at design time. The running application has zero ICA dependency — it is all compiled in."</a:t>
            </a:r>
          </a:p>
        </p:txBody>
      </p:sp>
      <p:sp>
        <p:nvSpPr>
          <p:cNvPr id="43" name="Rectangle 42"/>
          <p:cNvSpPr/>
          <p:nvPr/>
        </p:nvSpPr>
        <p:spPr>
          <a:xfrm>
            <a:off x="0" y="6803136"/>
            <a:ext cx="12188952" cy="54864"/>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82880" y="6821424"/>
            <a:ext cx="11795760" cy="200055"/>
          </a:xfrm>
          <a:prstGeom prst="rect">
            <a:avLst/>
          </a:prstGeom>
          <a:noFill/>
        </p:spPr>
        <p:txBody>
          <a:bodyPr wrap="square">
            <a:spAutoFit/>
          </a:bodyPr>
          <a:lstStyle/>
          <a:p>
            <a:pPr algn="ctr"/>
            <a:r>
              <a:rPr sz="700" b="0" i="0" dirty="0">
                <a:solidFill>
                  <a:srgbClr val="FFFFFF"/>
                </a:solidFill>
              </a:rPr>
              <a:t>National Grid DSM  |  CDP Snowflake Loader  |  IBM Bob Level 3  |  Althaf P M  |  </a:t>
            </a:r>
            <a:r>
              <a:rPr lang="en-IN" sz="700" b="0" i="0" dirty="0">
                <a:solidFill>
                  <a:srgbClr val="FFFFFF"/>
                </a:solidFill>
              </a:rPr>
              <a:t>2026</a:t>
            </a:r>
            <a:endParaRPr sz="700" b="0" i="0" dirty="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6929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256032"/>
            <a:ext cx="8229600" cy="475488"/>
          </a:xfrm>
          <a:prstGeom prst="rect">
            <a:avLst/>
          </a:prstGeom>
          <a:noFill/>
        </p:spPr>
        <p:txBody>
          <a:bodyPr wrap="square">
            <a:spAutoFit/>
          </a:bodyPr>
          <a:lstStyle/>
          <a:p>
            <a:pPr algn="l"/>
            <a:r>
              <a:rPr sz="2400" b="1" i="0">
                <a:solidFill>
                  <a:srgbClr val="6929D0"/>
                </a:solidFill>
              </a:rPr>
              <a:t>The Key Differentiator — Traceability</a:t>
            </a:r>
          </a:p>
        </p:txBody>
      </p:sp>
      <p:sp>
        <p:nvSpPr>
          <p:cNvPr id="4" name="TextBox 3"/>
          <p:cNvSpPr txBox="1"/>
          <p:nvPr/>
        </p:nvSpPr>
        <p:spPr>
          <a:xfrm>
            <a:off x="274320" y="749808"/>
            <a:ext cx="10972800" cy="320040"/>
          </a:xfrm>
          <a:prstGeom prst="rect">
            <a:avLst/>
          </a:prstGeom>
          <a:noFill/>
        </p:spPr>
        <p:txBody>
          <a:bodyPr wrap="square">
            <a:spAutoFit/>
          </a:bodyPr>
          <a:lstStyle/>
          <a:p>
            <a:pPr algn="l"/>
            <a:r>
              <a:rPr sz="1200" b="0" i="0">
                <a:solidFill>
                  <a:srgbClr val="525252"/>
                </a:solidFill>
              </a:rPr>
              <a:t>ICA Rule → Java Class → Unit Test  ·  Zero drift between spec and code on a regulated system</a:t>
            </a:r>
          </a:p>
        </p:txBody>
      </p:sp>
      <p:sp>
        <p:nvSpPr>
          <p:cNvPr id="5" name="Rectangle 4"/>
          <p:cNvSpPr/>
          <p:nvPr/>
        </p:nvSpPr>
        <p:spPr>
          <a:xfrm>
            <a:off x="182880" y="1097280"/>
            <a:ext cx="11795760" cy="18288"/>
          </a:xfrm>
          <a:prstGeom prst="rect">
            <a:avLst/>
          </a:prstGeom>
          <a:solidFill>
            <a:srgbClr val="6929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207008"/>
            <a:ext cx="2148840" cy="1280160"/>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47472" y="1280160"/>
            <a:ext cx="2011680" cy="1115568"/>
          </a:xfrm>
          <a:prstGeom prst="rect">
            <a:avLst/>
          </a:prstGeom>
          <a:noFill/>
        </p:spPr>
        <p:txBody>
          <a:bodyPr wrap="square">
            <a:spAutoFit/>
          </a:bodyPr>
          <a:lstStyle/>
          <a:p>
            <a:pPr algn="ctr"/>
            <a:r>
              <a:rPr sz="1100" b="1" i="0">
                <a:solidFill>
                  <a:srgbClr val="FFFFFF"/>
                </a:solidFill>
              </a:rPr>
              <a:t>ICA Context
Studio (MCP)
17 docs</a:t>
            </a:r>
          </a:p>
        </p:txBody>
      </p:sp>
      <p:sp>
        <p:nvSpPr>
          <p:cNvPr id="8" name="TextBox 7"/>
          <p:cNvSpPr txBox="1"/>
          <p:nvPr/>
        </p:nvSpPr>
        <p:spPr>
          <a:xfrm>
            <a:off x="2450591" y="1664208"/>
            <a:ext cx="201168" cy="457200"/>
          </a:xfrm>
          <a:prstGeom prst="rect">
            <a:avLst/>
          </a:prstGeom>
          <a:noFill/>
        </p:spPr>
        <p:txBody>
          <a:bodyPr wrap="square">
            <a:spAutoFit/>
          </a:bodyPr>
          <a:lstStyle/>
          <a:p>
            <a:pPr algn="ctr"/>
            <a:r>
              <a:rPr sz="2000" b="1" i="0">
                <a:solidFill>
                  <a:srgbClr val="525252"/>
                </a:solidFill>
              </a:rPr>
              <a:t>→</a:t>
            </a:r>
          </a:p>
        </p:txBody>
      </p:sp>
      <p:sp>
        <p:nvSpPr>
          <p:cNvPr id="9" name="Rectangle 8"/>
          <p:cNvSpPr/>
          <p:nvPr/>
        </p:nvSpPr>
        <p:spPr>
          <a:xfrm>
            <a:off x="2651760" y="1207008"/>
            <a:ext cx="2148840" cy="1280160"/>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24912" y="1280160"/>
            <a:ext cx="2011680" cy="1115568"/>
          </a:xfrm>
          <a:prstGeom prst="rect">
            <a:avLst/>
          </a:prstGeom>
          <a:noFill/>
        </p:spPr>
        <p:txBody>
          <a:bodyPr wrap="square">
            <a:spAutoFit/>
          </a:bodyPr>
          <a:lstStyle/>
          <a:p>
            <a:pPr algn="ctr"/>
            <a:r>
              <a:rPr sz="1100" b="1" i="0">
                <a:solidFill>
                  <a:srgbClr val="FFFFFF"/>
                </a:solidFill>
              </a:rPr>
              <a:t>Transformation
Rules TR-*
Validation VR-*</a:t>
            </a:r>
          </a:p>
        </p:txBody>
      </p:sp>
      <p:sp>
        <p:nvSpPr>
          <p:cNvPr id="11" name="TextBox 10"/>
          <p:cNvSpPr txBox="1"/>
          <p:nvPr/>
        </p:nvSpPr>
        <p:spPr>
          <a:xfrm>
            <a:off x="4828031" y="1664208"/>
            <a:ext cx="201168" cy="457200"/>
          </a:xfrm>
          <a:prstGeom prst="rect">
            <a:avLst/>
          </a:prstGeom>
          <a:noFill/>
        </p:spPr>
        <p:txBody>
          <a:bodyPr wrap="square">
            <a:spAutoFit/>
          </a:bodyPr>
          <a:lstStyle/>
          <a:p>
            <a:pPr algn="ctr"/>
            <a:r>
              <a:rPr sz="2000" b="1" i="0">
                <a:solidFill>
                  <a:srgbClr val="525252"/>
                </a:solidFill>
              </a:rPr>
              <a:t>→</a:t>
            </a:r>
          </a:p>
        </p:txBody>
      </p:sp>
      <p:sp>
        <p:nvSpPr>
          <p:cNvPr id="12" name="Rectangle 11"/>
          <p:cNvSpPr/>
          <p:nvPr/>
        </p:nvSpPr>
        <p:spPr>
          <a:xfrm>
            <a:off x="5029200" y="1207008"/>
            <a:ext cx="2148840" cy="1280160"/>
          </a:xfrm>
          <a:prstGeom prst="rect">
            <a:avLst/>
          </a:prstGeom>
          <a:solidFill>
            <a:srgbClr val="19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02352" y="1280160"/>
            <a:ext cx="2011680" cy="1115568"/>
          </a:xfrm>
          <a:prstGeom prst="rect">
            <a:avLst/>
          </a:prstGeom>
          <a:noFill/>
        </p:spPr>
        <p:txBody>
          <a:bodyPr wrap="square">
            <a:spAutoFit/>
          </a:bodyPr>
          <a:lstStyle/>
          <a:p>
            <a:pPr algn="ctr"/>
            <a:r>
              <a:rPr sz="1100" b="1" i="0">
                <a:solidFill>
                  <a:srgbClr val="FFFFFF"/>
                </a:solidFill>
              </a:rPr>
              <a:t>Java Classes
Processors &amp;
Validators</a:t>
            </a:r>
          </a:p>
        </p:txBody>
      </p:sp>
      <p:sp>
        <p:nvSpPr>
          <p:cNvPr id="14" name="TextBox 13"/>
          <p:cNvSpPr txBox="1"/>
          <p:nvPr/>
        </p:nvSpPr>
        <p:spPr>
          <a:xfrm>
            <a:off x="7205472" y="1664208"/>
            <a:ext cx="201168" cy="457200"/>
          </a:xfrm>
          <a:prstGeom prst="rect">
            <a:avLst/>
          </a:prstGeom>
          <a:noFill/>
        </p:spPr>
        <p:txBody>
          <a:bodyPr wrap="square">
            <a:spAutoFit/>
          </a:bodyPr>
          <a:lstStyle/>
          <a:p>
            <a:pPr algn="ctr"/>
            <a:r>
              <a:rPr sz="2000" b="1" i="0">
                <a:solidFill>
                  <a:srgbClr val="525252"/>
                </a:solidFill>
              </a:rPr>
              <a:t>→</a:t>
            </a:r>
          </a:p>
        </p:txBody>
      </p:sp>
      <p:sp>
        <p:nvSpPr>
          <p:cNvPr id="15" name="Rectangle 14"/>
          <p:cNvSpPr/>
          <p:nvPr/>
        </p:nvSpPr>
        <p:spPr>
          <a:xfrm>
            <a:off x="7406640" y="1207008"/>
            <a:ext cx="2148840" cy="1280160"/>
          </a:xfrm>
          <a:prstGeom prst="rect">
            <a:avLst/>
          </a:prstGeom>
          <a:solidFill>
            <a:srgbClr val="6929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79792" y="1280160"/>
            <a:ext cx="2011680" cy="1115568"/>
          </a:xfrm>
          <a:prstGeom prst="rect">
            <a:avLst/>
          </a:prstGeom>
          <a:noFill/>
        </p:spPr>
        <p:txBody>
          <a:bodyPr wrap="square">
            <a:spAutoFit/>
          </a:bodyPr>
          <a:lstStyle/>
          <a:p>
            <a:pPr algn="ctr"/>
            <a:r>
              <a:rPr sz="1100" b="1" i="0">
                <a:solidFill>
                  <a:srgbClr val="FFFFFF"/>
                </a:solidFill>
              </a:rPr>
              <a:t>44 Unit Tests
0 Failures
All ICA-traced</a:t>
            </a:r>
          </a:p>
        </p:txBody>
      </p:sp>
      <p:sp>
        <p:nvSpPr>
          <p:cNvPr id="17" name="TextBox 16"/>
          <p:cNvSpPr txBox="1"/>
          <p:nvPr/>
        </p:nvSpPr>
        <p:spPr>
          <a:xfrm>
            <a:off x="9582912" y="1664208"/>
            <a:ext cx="201168" cy="457200"/>
          </a:xfrm>
          <a:prstGeom prst="rect">
            <a:avLst/>
          </a:prstGeom>
          <a:noFill/>
        </p:spPr>
        <p:txBody>
          <a:bodyPr wrap="square">
            <a:spAutoFit/>
          </a:bodyPr>
          <a:lstStyle/>
          <a:p>
            <a:pPr algn="ctr"/>
            <a:r>
              <a:rPr sz="2000" b="1" i="0">
                <a:solidFill>
                  <a:srgbClr val="525252"/>
                </a:solidFill>
              </a:rPr>
              <a:t>→</a:t>
            </a:r>
          </a:p>
        </p:txBody>
      </p:sp>
      <p:sp>
        <p:nvSpPr>
          <p:cNvPr id="18" name="Rectangle 17"/>
          <p:cNvSpPr/>
          <p:nvPr/>
        </p:nvSpPr>
        <p:spPr>
          <a:xfrm>
            <a:off x="9784080" y="1207008"/>
            <a:ext cx="2148840" cy="1280160"/>
          </a:xfrm>
          <a:prstGeom prst="rect">
            <a:avLst/>
          </a:prstGeom>
          <a:solidFill>
            <a:srgbClr val="005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57232" y="1280160"/>
            <a:ext cx="2011680" cy="1115568"/>
          </a:xfrm>
          <a:prstGeom prst="rect">
            <a:avLst/>
          </a:prstGeom>
          <a:noFill/>
        </p:spPr>
        <p:txBody>
          <a:bodyPr wrap="square">
            <a:spAutoFit/>
          </a:bodyPr>
          <a:lstStyle/>
          <a:p>
            <a:pPr algn="ctr"/>
            <a:r>
              <a:rPr sz="1100" b="1" i="0">
                <a:solidFill>
                  <a:srgbClr val="FFFFFF"/>
                </a:solidFill>
              </a:rPr>
              <a:t>DSM Oracle
MERGE +
Audit trail</a:t>
            </a:r>
          </a:p>
        </p:txBody>
      </p:sp>
      <p:sp>
        <p:nvSpPr>
          <p:cNvPr id="20" name="Rectangle 19"/>
          <p:cNvSpPr/>
          <p:nvPr/>
        </p:nvSpPr>
        <p:spPr>
          <a:xfrm>
            <a:off x="274320" y="2651760"/>
            <a:ext cx="11612880" cy="1481328"/>
          </a:xfrm>
          <a:prstGeom prst="rect">
            <a:avLst/>
          </a:prstGeom>
          <a:solidFill>
            <a:srgbClr val="FFFFFF"/>
          </a:solidFill>
          <a:ln w="12700">
            <a:solidFill>
              <a:srgbClr val="6929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2715768"/>
            <a:ext cx="8229600" cy="320040"/>
          </a:xfrm>
          <a:prstGeom prst="rect">
            <a:avLst/>
          </a:prstGeom>
          <a:noFill/>
        </p:spPr>
        <p:txBody>
          <a:bodyPr wrap="square">
            <a:spAutoFit/>
          </a:bodyPr>
          <a:lstStyle/>
          <a:p>
            <a:pPr algn="l"/>
            <a:r>
              <a:rPr sz="1200" b="1" i="0">
                <a:solidFill>
                  <a:srgbClr val="6929D0"/>
                </a:solidFill>
              </a:rPr>
              <a:t>Example: TR-CUST-STATUS-01  (DSM Customer Status Mapping)</a:t>
            </a:r>
          </a:p>
        </p:txBody>
      </p:sp>
      <p:sp>
        <p:nvSpPr>
          <p:cNvPr id="22" name="TextBox 21"/>
          <p:cNvSpPr txBox="1"/>
          <p:nvPr/>
        </p:nvSpPr>
        <p:spPr>
          <a:xfrm>
            <a:off x="457200" y="3063240"/>
            <a:ext cx="1280160" cy="228600"/>
          </a:xfrm>
          <a:prstGeom prst="rect">
            <a:avLst/>
          </a:prstGeom>
          <a:noFill/>
        </p:spPr>
        <p:txBody>
          <a:bodyPr wrap="square">
            <a:spAutoFit/>
          </a:bodyPr>
          <a:lstStyle/>
          <a:p>
            <a:pPr algn="l"/>
            <a:r>
              <a:rPr sz="950" b="1" i="0">
                <a:solidFill>
                  <a:srgbClr val="525252"/>
                </a:solidFill>
              </a:rPr>
              <a:t>ICA Rule:</a:t>
            </a:r>
          </a:p>
        </p:txBody>
      </p:sp>
      <p:sp>
        <p:nvSpPr>
          <p:cNvPr id="23" name="TextBox 22"/>
          <p:cNvSpPr txBox="1"/>
          <p:nvPr/>
        </p:nvSpPr>
        <p:spPr>
          <a:xfrm>
            <a:off x="1828800" y="3063240"/>
            <a:ext cx="9875520" cy="228600"/>
          </a:xfrm>
          <a:prstGeom prst="rect">
            <a:avLst/>
          </a:prstGeom>
          <a:noFill/>
        </p:spPr>
        <p:txBody>
          <a:bodyPr wrap="square">
            <a:spAutoFit/>
          </a:bodyPr>
          <a:lstStyle/>
          <a:p>
            <a:pPr algn="l"/>
            <a:r>
              <a:rPr sz="950" b="0" i="0">
                <a:solidFill>
                  <a:srgbClr val="161616"/>
                </a:solidFill>
              </a:rPr>
              <a:t>TR-CUST-STATUS-01 in 06-transformation-rules.md: Snowflake ACCOUNT_STATUS='ACTIVE' → Oracle IS_ACTIVE=1, inactive → 0</a:t>
            </a:r>
          </a:p>
        </p:txBody>
      </p:sp>
      <p:sp>
        <p:nvSpPr>
          <p:cNvPr id="24" name="TextBox 23"/>
          <p:cNvSpPr txBox="1"/>
          <p:nvPr/>
        </p:nvSpPr>
        <p:spPr>
          <a:xfrm>
            <a:off x="457200" y="3310128"/>
            <a:ext cx="1280160" cy="228600"/>
          </a:xfrm>
          <a:prstGeom prst="rect">
            <a:avLst/>
          </a:prstGeom>
          <a:noFill/>
        </p:spPr>
        <p:txBody>
          <a:bodyPr wrap="square">
            <a:spAutoFit/>
          </a:bodyPr>
          <a:lstStyle/>
          <a:p>
            <a:pPr algn="l"/>
            <a:r>
              <a:rPr sz="950" b="1" i="0">
                <a:solidFill>
                  <a:srgbClr val="525252"/>
                </a:solidFill>
              </a:rPr>
              <a:t>Java Class:</a:t>
            </a:r>
          </a:p>
        </p:txBody>
      </p:sp>
      <p:sp>
        <p:nvSpPr>
          <p:cNvPr id="25" name="TextBox 24"/>
          <p:cNvSpPr txBox="1"/>
          <p:nvPr/>
        </p:nvSpPr>
        <p:spPr>
          <a:xfrm>
            <a:off x="1828800" y="3310128"/>
            <a:ext cx="9875520" cy="228600"/>
          </a:xfrm>
          <a:prstGeom prst="rect">
            <a:avLst/>
          </a:prstGeom>
          <a:noFill/>
        </p:spPr>
        <p:txBody>
          <a:bodyPr wrap="square">
            <a:spAutoFit/>
          </a:bodyPr>
          <a:lstStyle/>
          <a:p>
            <a:pPr algn="l"/>
            <a:r>
              <a:rPr sz="950" b="0" i="0">
                <a:solidFill>
                  <a:srgbClr val="161616"/>
                </a:solidFill>
              </a:rPr>
              <a:t>CustomerProcessor.java — mapAccountStatus() method, generated directly from ICA rule ID</a:t>
            </a:r>
          </a:p>
        </p:txBody>
      </p:sp>
      <p:sp>
        <p:nvSpPr>
          <p:cNvPr id="26" name="TextBox 25"/>
          <p:cNvSpPr txBox="1"/>
          <p:nvPr/>
        </p:nvSpPr>
        <p:spPr>
          <a:xfrm>
            <a:off x="457200" y="3557016"/>
            <a:ext cx="1280160" cy="228600"/>
          </a:xfrm>
          <a:prstGeom prst="rect">
            <a:avLst/>
          </a:prstGeom>
          <a:noFill/>
        </p:spPr>
        <p:txBody>
          <a:bodyPr wrap="square">
            <a:spAutoFit/>
          </a:bodyPr>
          <a:lstStyle/>
          <a:p>
            <a:pPr algn="l"/>
            <a:r>
              <a:rPr sz="950" b="1" i="0">
                <a:solidFill>
                  <a:srgbClr val="525252"/>
                </a:solidFill>
              </a:rPr>
              <a:t>Unit Test:</a:t>
            </a:r>
          </a:p>
        </p:txBody>
      </p:sp>
      <p:sp>
        <p:nvSpPr>
          <p:cNvPr id="27" name="TextBox 26"/>
          <p:cNvSpPr txBox="1"/>
          <p:nvPr/>
        </p:nvSpPr>
        <p:spPr>
          <a:xfrm>
            <a:off x="1828800" y="3557016"/>
            <a:ext cx="9875520" cy="228600"/>
          </a:xfrm>
          <a:prstGeom prst="rect">
            <a:avLst/>
          </a:prstGeom>
          <a:noFill/>
        </p:spPr>
        <p:txBody>
          <a:bodyPr wrap="square">
            <a:spAutoFit/>
          </a:bodyPr>
          <a:lstStyle/>
          <a:p>
            <a:pPr algn="l"/>
            <a:r>
              <a:rPr sz="950" b="0" i="0">
                <a:solidFill>
                  <a:srgbClr val="161616"/>
                </a:solidFill>
              </a:rPr>
              <a:t>CustomerProcessorTest.java — testActiveStatusMapsToOne(), testInactiveStatusMapsToZero()</a:t>
            </a:r>
          </a:p>
        </p:txBody>
      </p:sp>
      <p:sp>
        <p:nvSpPr>
          <p:cNvPr id="28" name="TextBox 27"/>
          <p:cNvSpPr txBox="1"/>
          <p:nvPr/>
        </p:nvSpPr>
        <p:spPr>
          <a:xfrm>
            <a:off x="457200" y="3803904"/>
            <a:ext cx="1280160" cy="228600"/>
          </a:xfrm>
          <a:prstGeom prst="rect">
            <a:avLst/>
          </a:prstGeom>
          <a:noFill/>
        </p:spPr>
        <p:txBody>
          <a:bodyPr wrap="square">
            <a:spAutoFit/>
          </a:bodyPr>
          <a:lstStyle/>
          <a:p>
            <a:pPr algn="l"/>
            <a:r>
              <a:rPr sz="950" b="1" i="0">
                <a:solidFill>
                  <a:srgbClr val="525252"/>
                </a:solidFill>
              </a:rPr>
              <a:t>Matrix:</a:t>
            </a:r>
          </a:p>
        </p:txBody>
      </p:sp>
      <p:sp>
        <p:nvSpPr>
          <p:cNvPr id="29" name="TextBox 28"/>
          <p:cNvSpPr txBox="1"/>
          <p:nvPr/>
        </p:nvSpPr>
        <p:spPr>
          <a:xfrm>
            <a:off x="1828800" y="3803904"/>
            <a:ext cx="9875520" cy="228600"/>
          </a:xfrm>
          <a:prstGeom prst="rect">
            <a:avLst/>
          </a:prstGeom>
          <a:noFill/>
        </p:spPr>
        <p:txBody>
          <a:bodyPr wrap="square">
            <a:spAutoFit/>
          </a:bodyPr>
          <a:lstStyle/>
          <a:p>
            <a:pPr algn="l"/>
            <a:r>
              <a:rPr sz="950" b="0" i="0">
                <a:solidFill>
                  <a:srgbClr val="161616"/>
                </a:solidFill>
              </a:rPr>
              <a:t>docs/ica-mcp-validation.md — full rule ↔ class ↔ test traceability matrix for 30+ DSM rules</a:t>
            </a:r>
          </a:p>
        </p:txBody>
      </p:sp>
      <p:sp>
        <p:nvSpPr>
          <p:cNvPr id="30" name="TextBox 29"/>
          <p:cNvSpPr txBox="1"/>
          <p:nvPr/>
        </p:nvSpPr>
        <p:spPr>
          <a:xfrm>
            <a:off x="274320" y="4279392"/>
            <a:ext cx="7315200" cy="320040"/>
          </a:xfrm>
          <a:prstGeom prst="rect">
            <a:avLst/>
          </a:prstGeom>
          <a:noFill/>
        </p:spPr>
        <p:txBody>
          <a:bodyPr wrap="square">
            <a:spAutoFit/>
          </a:bodyPr>
          <a:lstStyle/>
          <a:p>
            <a:pPr algn="l"/>
            <a:r>
              <a:rPr sz="1200" b="1" i="0">
                <a:solidFill>
                  <a:srgbClr val="0043CE"/>
                </a:solidFill>
              </a:rPr>
              <a:t>Why Traceability Matters on a Regulated DSM System</a:t>
            </a:r>
          </a:p>
        </p:txBody>
      </p:sp>
      <p:sp>
        <p:nvSpPr>
          <p:cNvPr id="31" name="TextBox 30"/>
          <p:cNvSpPr txBox="1"/>
          <p:nvPr/>
        </p:nvSpPr>
        <p:spPr>
          <a:xfrm>
            <a:off x="274320" y="4645152"/>
            <a:ext cx="11612880" cy="301752"/>
          </a:xfrm>
          <a:prstGeom prst="rect">
            <a:avLst/>
          </a:prstGeom>
          <a:noFill/>
        </p:spPr>
        <p:txBody>
          <a:bodyPr wrap="square">
            <a:spAutoFit/>
          </a:bodyPr>
          <a:lstStyle/>
          <a:p>
            <a:pPr algn="l"/>
            <a:r>
              <a:rPr sz="1000" b="0" i="0">
                <a:solidFill>
                  <a:srgbClr val="161616"/>
                </a:solidFill>
              </a:rPr>
              <a:t>▸  DSM reports to MA &amp; NY regulators — mapping errors in customer data affect programme compliance and audit outcomes.</a:t>
            </a:r>
          </a:p>
        </p:txBody>
      </p:sp>
      <p:sp>
        <p:nvSpPr>
          <p:cNvPr id="32" name="TextBox 31"/>
          <p:cNvSpPr txBox="1"/>
          <p:nvPr/>
        </p:nvSpPr>
        <p:spPr>
          <a:xfrm>
            <a:off x="274320" y="4974336"/>
            <a:ext cx="11612880" cy="301752"/>
          </a:xfrm>
          <a:prstGeom prst="rect">
            <a:avLst/>
          </a:prstGeom>
          <a:noFill/>
        </p:spPr>
        <p:txBody>
          <a:bodyPr wrap="square">
            <a:spAutoFit/>
          </a:bodyPr>
          <a:lstStyle/>
          <a:p>
            <a:pPr algn="l"/>
            <a:r>
              <a:rPr sz="1000" b="0" i="0">
                <a:solidFill>
                  <a:srgbClr val="161616"/>
                </a:solidFill>
              </a:rPr>
              <a:t>▸  Business rules live in ICA, not a developer's head. When Kraken data schema changes, Bob regenerates only affected code.</a:t>
            </a:r>
          </a:p>
        </p:txBody>
      </p:sp>
      <p:sp>
        <p:nvSpPr>
          <p:cNvPr id="33" name="TextBox 32"/>
          <p:cNvSpPr txBox="1"/>
          <p:nvPr/>
        </p:nvSpPr>
        <p:spPr>
          <a:xfrm>
            <a:off x="274320" y="5303520"/>
            <a:ext cx="11612880" cy="301752"/>
          </a:xfrm>
          <a:prstGeom prst="rect">
            <a:avLst/>
          </a:prstGeom>
          <a:noFill/>
        </p:spPr>
        <p:txBody>
          <a:bodyPr wrap="square">
            <a:spAutoFit/>
          </a:bodyPr>
          <a:lstStyle/>
          <a:p>
            <a:pPr algn="l"/>
            <a:r>
              <a:rPr sz="1000" b="0" i="0">
                <a:solidFill>
                  <a:srgbClr val="161616"/>
                </a:solidFill>
              </a:rPr>
              <a:t>▸  Every VR-*/TR-* rule has a test. Regression caught automatically — not discovered in a regulatory submission.</a:t>
            </a:r>
          </a:p>
        </p:txBody>
      </p:sp>
      <p:sp>
        <p:nvSpPr>
          <p:cNvPr id="34" name="TextBox 33"/>
          <p:cNvSpPr txBox="1"/>
          <p:nvPr/>
        </p:nvSpPr>
        <p:spPr>
          <a:xfrm>
            <a:off x="274320" y="5632704"/>
            <a:ext cx="11612880" cy="301752"/>
          </a:xfrm>
          <a:prstGeom prst="rect">
            <a:avLst/>
          </a:prstGeom>
          <a:noFill/>
        </p:spPr>
        <p:txBody>
          <a:bodyPr wrap="square">
            <a:spAutoFit/>
          </a:bodyPr>
          <a:lstStyle/>
          <a:p>
            <a:pPr algn="l"/>
            <a:r>
              <a:rPr sz="1000" b="0" i="0" dirty="0">
                <a:solidFill>
                  <a:srgbClr val="161616"/>
                </a:solidFill>
              </a:rPr>
              <a:t>▸  Onboarding a new DSM engineer: 30 minutes (README + ICA bundle). Previously 2-3 weeks of tribal knowledge transfer.</a:t>
            </a:r>
          </a:p>
        </p:txBody>
      </p:sp>
      <p:sp>
        <p:nvSpPr>
          <p:cNvPr id="35" name="Rectangle 34"/>
          <p:cNvSpPr/>
          <p:nvPr/>
        </p:nvSpPr>
        <p:spPr>
          <a:xfrm>
            <a:off x="228600" y="6291072"/>
            <a:ext cx="11750040" cy="347472"/>
          </a:xfrm>
          <a:prstGeom prst="rect">
            <a:avLst/>
          </a:prstGeom>
          <a:solidFill>
            <a:srgbClr val="39393A"/>
          </a:solidFill>
          <a:ln w="635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6309360"/>
            <a:ext cx="11521440" cy="320040"/>
          </a:xfrm>
          <a:prstGeom prst="rect">
            <a:avLst/>
          </a:prstGeom>
          <a:noFill/>
        </p:spPr>
        <p:txBody>
          <a:bodyPr wrap="square">
            <a:spAutoFit/>
          </a:bodyPr>
          <a:lstStyle/>
          <a:p>
            <a:pPr algn="l"/>
            <a:r>
              <a:rPr sz="800" b="0" i="1">
                <a:solidFill>
                  <a:srgbClr val="C6C6C6"/>
                </a:solidFill>
              </a:rPr>
              <a:t>SCRIPT [1:28-1:45]  "The real differentiator is not speed — it is consistency. DSM feeds regulated energy efficiency programmes. A mapping error is not just a bug, it is a compliance risk. Bob maintained spec-to-code traceability across 80 backlog items and 6 phases. That discipline normally needs a dedicated BA and QA team."</a:t>
            </a:r>
          </a:p>
        </p:txBody>
      </p:sp>
      <p:sp>
        <p:nvSpPr>
          <p:cNvPr id="37" name="Rectangle 36"/>
          <p:cNvSpPr/>
          <p:nvPr/>
        </p:nvSpPr>
        <p:spPr>
          <a:xfrm>
            <a:off x="0" y="6803136"/>
            <a:ext cx="12188952" cy="54864"/>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2880" y="6821424"/>
            <a:ext cx="11795760" cy="200055"/>
          </a:xfrm>
          <a:prstGeom prst="rect">
            <a:avLst/>
          </a:prstGeom>
          <a:noFill/>
        </p:spPr>
        <p:txBody>
          <a:bodyPr wrap="square">
            <a:spAutoFit/>
          </a:bodyPr>
          <a:lstStyle/>
          <a:p>
            <a:pPr algn="ctr"/>
            <a:r>
              <a:rPr sz="700" b="0" i="0" dirty="0">
                <a:solidFill>
                  <a:srgbClr val="FFFFFF"/>
                </a:solidFill>
              </a:rPr>
              <a:t>National Grid DSM  |  CDP Snowflake Loader  |  IBM Bob Level 3  |  Althaf P M  |  </a:t>
            </a:r>
            <a:r>
              <a:rPr lang="en-IN" sz="700" b="0" i="0" dirty="0">
                <a:solidFill>
                  <a:srgbClr val="FFFFFF"/>
                </a:solidFill>
              </a:rPr>
              <a:t>2026</a:t>
            </a:r>
            <a:endParaRPr sz="700" b="0" i="0" dirty="0">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64592"/>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56032"/>
            <a:ext cx="9144000" cy="548640"/>
          </a:xfrm>
          <a:prstGeom prst="rect">
            <a:avLst/>
          </a:prstGeom>
          <a:noFill/>
        </p:spPr>
        <p:txBody>
          <a:bodyPr wrap="square">
            <a:spAutoFit/>
          </a:bodyPr>
          <a:lstStyle/>
          <a:p>
            <a:pPr algn="l"/>
            <a:r>
              <a:rPr sz="2600" b="1" i="0">
                <a:solidFill>
                  <a:srgbClr val="FFFFFF"/>
                </a:solidFill>
              </a:rPr>
              <a:t>What This Means for National Grid</a:t>
            </a:r>
          </a:p>
        </p:txBody>
      </p:sp>
      <p:sp>
        <p:nvSpPr>
          <p:cNvPr id="4" name="TextBox 3"/>
          <p:cNvSpPr txBox="1"/>
          <p:nvPr/>
        </p:nvSpPr>
        <p:spPr>
          <a:xfrm>
            <a:off x="365760" y="822960"/>
            <a:ext cx="7315200" cy="320040"/>
          </a:xfrm>
          <a:prstGeom prst="rect">
            <a:avLst/>
          </a:prstGeom>
          <a:noFill/>
        </p:spPr>
        <p:txBody>
          <a:bodyPr wrap="square">
            <a:spAutoFit/>
          </a:bodyPr>
          <a:lstStyle/>
          <a:p>
            <a:pPr algn="l"/>
            <a:r>
              <a:rPr sz="1400" b="0" i="0">
                <a:solidFill>
                  <a:srgbClr val="CCEBD7"/>
                </a:solidFill>
              </a:rPr>
              <a:t>And the next step to get there</a:t>
            </a:r>
          </a:p>
        </p:txBody>
      </p:sp>
      <p:sp>
        <p:nvSpPr>
          <p:cNvPr id="5" name="Rectangle 4"/>
          <p:cNvSpPr/>
          <p:nvPr/>
        </p:nvSpPr>
        <p:spPr>
          <a:xfrm>
            <a:off x="182880" y="1188720"/>
            <a:ext cx="11795760" cy="18288"/>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280160"/>
            <a:ext cx="11612880" cy="914400"/>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44168"/>
            <a:ext cx="11247120" cy="822960"/>
          </a:xfrm>
          <a:prstGeom prst="rect">
            <a:avLst/>
          </a:prstGeom>
          <a:noFill/>
        </p:spPr>
        <p:txBody>
          <a:bodyPr wrap="square">
            <a:spAutoFit/>
          </a:bodyPr>
          <a:lstStyle/>
          <a:p>
            <a:pPr algn="ctr"/>
            <a:r>
              <a:rPr sz="1300" b="1" i="0">
                <a:solidFill>
                  <a:srgbClr val="FFFFFF"/>
                </a:solidFill>
              </a:rPr>
              <a:t>IBM Bob compressed a 6-8 week, 3-person integration project into ~2 weeks with 1 person —
with full traceability, 44 tests passing, and a production-ready Snowflake → DSM loader prototype.</a:t>
            </a:r>
          </a:p>
        </p:txBody>
      </p:sp>
      <p:sp>
        <p:nvSpPr>
          <p:cNvPr id="8" name="Rectangle 7"/>
          <p:cNvSpPr/>
          <p:nvPr/>
        </p:nvSpPr>
        <p:spPr>
          <a:xfrm>
            <a:off x="274320" y="2359152"/>
            <a:ext cx="3749039" cy="2743200"/>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2487168"/>
            <a:ext cx="3566160" cy="822960"/>
          </a:xfrm>
          <a:prstGeom prst="rect">
            <a:avLst/>
          </a:prstGeom>
          <a:noFill/>
        </p:spPr>
        <p:txBody>
          <a:bodyPr wrap="square">
            <a:spAutoFit/>
          </a:bodyPr>
          <a:lstStyle/>
          <a:p>
            <a:pPr algn="ctr"/>
            <a:r>
              <a:rPr sz="1700" b="1" i="0">
                <a:solidFill>
                  <a:srgbClr val="FFFFFF"/>
                </a:solidFill>
              </a:rPr>
              <a:t>30-min
Workshop</a:t>
            </a:r>
          </a:p>
        </p:txBody>
      </p:sp>
      <p:sp>
        <p:nvSpPr>
          <p:cNvPr id="10" name="Rectangle 9"/>
          <p:cNvSpPr/>
          <p:nvPr/>
        </p:nvSpPr>
        <p:spPr>
          <a:xfrm>
            <a:off x="411479" y="3310128"/>
            <a:ext cx="34747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79" y="3401568"/>
            <a:ext cx="3474720" cy="1554480"/>
          </a:xfrm>
          <a:prstGeom prst="rect">
            <a:avLst/>
          </a:prstGeom>
          <a:noFill/>
        </p:spPr>
        <p:txBody>
          <a:bodyPr wrap="square">
            <a:spAutoFit/>
          </a:bodyPr>
          <a:lstStyle/>
          <a:p>
            <a:pPr algn="ctr"/>
            <a:r>
              <a:rPr sz="1100" b="0" i="0">
                <a:solidFill>
                  <a:srgbClr val="FFFFFF"/>
                </a:solidFill>
              </a:rPr>
              <a:t>Live demo: Bob generates a
DSM mapping doc + processor
from a new ICA rule.
Q&amp;A on AI Maturity Curve.</a:t>
            </a:r>
          </a:p>
        </p:txBody>
      </p:sp>
      <p:sp>
        <p:nvSpPr>
          <p:cNvPr id="12" name="Rectangle 11"/>
          <p:cNvSpPr/>
          <p:nvPr/>
        </p:nvSpPr>
        <p:spPr>
          <a:xfrm>
            <a:off x="4261104" y="2359152"/>
            <a:ext cx="3749039" cy="2743200"/>
          </a:xfrm>
          <a:prstGeom prst="rect">
            <a:avLst/>
          </a:prstGeom>
          <a:solidFill>
            <a:srgbClr val="006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52544" y="2487168"/>
            <a:ext cx="3566160" cy="822960"/>
          </a:xfrm>
          <a:prstGeom prst="rect">
            <a:avLst/>
          </a:prstGeom>
          <a:noFill/>
        </p:spPr>
        <p:txBody>
          <a:bodyPr wrap="square">
            <a:spAutoFit/>
          </a:bodyPr>
          <a:lstStyle/>
          <a:p>
            <a:pPr algn="ctr"/>
            <a:r>
              <a:rPr sz="1700" b="1" i="0">
                <a:solidFill>
                  <a:srgbClr val="FFFFFF"/>
                </a:solidFill>
              </a:rPr>
              <a:t>Proof of
Experience (PoX)</a:t>
            </a:r>
          </a:p>
        </p:txBody>
      </p:sp>
      <p:sp>
        <p:nvSpPr>
          <p:cNvPr id="14" name="Rectangle 13"/>
          <p:cNvSpPr/>
          <p:nvPr/>
        </p:nvSpPr>
        <p:spPr>
          <a:xfrm>
            <a:off x="4398264" y="3310128"/>
            <a:ext cx="34747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98264" y="3401568"/>
            <a:ext cx="3474720" cy="1554480"/>
          </a:xfrm>
          <a:prstGeom prst="rect">
            <a:avLst/>
          </a:prstGeom>
          <a:noFill/>
        </p:spPr>
        <p:txBody>
          <a:bodyPr wrap="square">
            <a:spAutoFit/>
          </a:bodyPr>
          <a:lstStyle/>
          <a:p>
            <a:pPr algn="ctr"/>
            <a:r>
              <a:rPr sz="1100" b="0" i="0">
                <a:solidFill>
                  <a:srgbClr val="FFFFFF"/>
                </a:solidFill>
              </a:rPr>
              <a:t>Extend the DSM prototype:
add the Kraken-to-Snowflake
pipeline or another DSM
subprogramme in 1-2 weeks.</a:t>
            </a:r>
          </a:p>
        </p:txBody>
      </p:sp>
      <p:sp>
        <p:nvSpPr>
          <p:cNvPr id="16" name="Rectangle 15"/>
          <p:cNvSpPr/>
          <p:nvPr/>
        </p:nvSpPr>
        <p:spPr>
          <a:xfrm>
            <a:off x="8247888" y="2359152"/>
            <a:ext cx="3749039" cy="2743200"/>
          </a:xfrm>
          <a:prstGeom prst="rect">
            <a:avLst/>
          </a:prstGeom>
          <a:solidFill>
            <a:srgbClr val="6929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2487168"/>
            <a:ext cx="3566160" cy="822960"/>
          </a:xfrm>
          <a:prstGeom prst="rect">
            <a:avLst/>
          </a:prstGeom>
          <a:noFill/>
        </p:spPr>
        <p:txBody>
          <a:bodyPr wrap="square">
            <a:spAutoFit/>
          </a:bodyPr>
          <a:lstStyle/>
          <a:p>
            <a:pPr algn="ctr"/>
            <a:r>
              <a:rPr sz="1700" b="1" i="0">
                <a:solidFill>
                  <a:srgbClr val="FFFFFF"/>
                </a:solidFill>
              </a:rPr>
              <a:t>Deeper Dive
Meeting</a:t>
            </a:r>
          </a:p>
        </p:txBody>
      </p:sp>
      <p:sp>
        <p:nvSpPr>
          <p:cNvPr id="18" name="Rectangle 17"/>
          <p:cNvSpPr/>
          <p:nvPr/>
        </p:nvSpPr>
        <p:spPr>
          <a:xfrm>
            <a:off x="8385048" y="3310128"/>
            <a:ext cx="34747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85048" y="3401568"/>
            <a:ext cx="3474720" cy="1554480"/>
          </a:xfrm>
          <a:prstGeom prst="rect">
            <a:avLst/>
          </a:prstGeom>
          <a:noFill/>
        </p:spPr>
        <p:txBody>
          <a:bodyPr wrap="square">
            <a:spAutoFit/>
          </a:bodyPr>
          <a:lstStyle/>
          <a:p>
            <a:pPr algn="ctr"/>
            <a:r>
              <a:rPr sz="1100" b="0" i="0">
                <a:solidFill>
                  <a:srgbClr val="FFFFFF"/>
                </a:solidFill>
              </a:rPr>
              <a:t>ICA Context Studio + MCP
walkthrough for National Grid's
architect / data lead.
Roadmap to Scale &amp; Extend.</a:t>
            </a:r>
          </a:p>
        </p:txBody>
      </p:sp>
      <p:sp>
        <p:nvSpPr>
          <p:cNvPr id="20" name="TextBox 19"/>
          <p:cNvSpPr txBox="1"/>
          <p:nvPr/>
        </p:nvSpPr>
        <p:spPr>
          <a:xfrm>
            <a:off x="274320" y="5285232"/>
            <a:ext cx="11612880" cy="914400"/>
          </a:xfrm>
          <a:prstGeom prst="rect">
            <a:avLst/>
          </a:prstGeom>
          <a:noFill/>
        </p:spPr>
        <p:txBody>
          <a:bodyPr wrap="square">
            <a:spAutoFit/>
          </a:bodyPr>
          <a:lstStyle/>
          <a:p>
            <a:pPr algn="ctr"/>
            <a:r>
              <a:rPr sz="1200" b="1">
                <a:solidFill>
                  <a:srgbClr val="D0E2FF"/>
                </a:solidFill>
              </a:rPr>
              <a:t>KEY METRICS RECAP</a:t>
            </a:r>
          </a:p>
          <a:p>
            <a:pPr algn="ctr"/>
            <a:endParaRPr sz="1200" b="1">
              <a:solidFill>
                <a:srgbClr val="D0E2FF"/>
              </a:solidFill>
            </a:endParaRPr>
          </a:p>
          <a:p>
            <a:pPr algn="ctr"/>
            <a:r>
              <a:rPr sz="1200" b="0">
                <a:solidFill>
                  <a:srgbClr val="FFFFFF"/>
                </a:solidFill>
              </a:rPr>
              <a:t>6-8 weeks  →  ~2 weeks    ·    3 people  →  1 person    ·    44 tests, 0 failures    ·    55 acceptance checks, FAIL_COUNT = 0</a:t>
            </a:r>
          </a:p>
          <a:p>
            <a:pPr algn="ctr"/>
            <a:r>
              <a:rPr sz="1200" b="0">
                <a:solidFill>
                  <a:srgbClr val="FFFFFF"/>
                </a:solidFill>
              </a:rPr>
              <a:t>17 ICA context docs    ·    0 secrets in 250+ files    ·    30 min developer onboarding    ·    Full regulatory traceability</a:t>
            </a:r>
          </a:p>
        </p:txBody>
      </p:sp>
      <p:sp>
        <p:nvSpPr>
          <p:cNvPr id="21" name="Rectangle 20"/>
          <p:cNvSpPr/>
          <p:nvPr/>
        </p:nvSpPr>
        <p:spPr>
          <a:xfrm>
            <a:off x="274320" y="6309360"/>
            <a:ext cx="11612880" cy="320040"/>
          </a:xfrm>
          <a:prstGeom prst="rect">
            <a:avLst/>
          </a:prstGeom>
          <a:solidFill>
            <a:srgbClr val="39393A"/>
          </a:solidFill>
          <a:ln w="6350">
            <a:solidFill>
              <a:srgbClr val="5252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6327648"/>
            <a:ext cx="11430000" cy="292608"/>
          </a:xfrm>
          <a:prstGeom prst="rect">
            <a:avLst/>
          </a:prstGeom>
          <a:noFill/>
        </p:spPr>
        <p:txBody>
          <a:bodyPr wrap="square">
            <a:spAutoFit/>
          </a:bodyPr>
          <a:lstStyle/>
          <a:p>
            <a:pPr algn="l"/>
            <a:r>
              <a:rPr sz="800" b="0" i="1">
                <a:solidFill>
                  <a:srgbClr val="C6C6C6"/>
                </a:solidFill>
              </a:rPr>
              <a:t>SCRIPT [1:45-2:00]  "For National Grid's DSM and the Kraken migration ahead, IBM Bob means your engineers focus on strategy and integration design, while Bob handles implementation. Let's set up a 30-min workshop. Thank you."</a:t>
            </a:r>
          </a:p>
        </p:txBody>
      </p:sp>
      <p:sp>
        <p:nvSpPr>
          <p:cNvPr id="23" name="Rectangle 22"/>
          <p:cNvSpPr/>
          <p:nvPr/>
        </p:nvSpPr>
        <p:spPr>
          <a:xfrm>
            <a:off x="0" y="6803136"/>
            <a:ext cx="12188952" cy="54864"/>
          </a:xfrm>
          <a:prstGeom prst="rect">
            <a:avLst/>
          </a:prstGeom>
          <a:solidFill>
            <a:srgbClr val="004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82880" y="6821424"/>
            <a:ext cx="11795760" cy="200055"/>
          </a:xfrm>
          <a:prstGeom prst="rect">
            <a:avLst/>
          </a:prstGeom>
          <a:noFill/>
        </p:spPr>
        <p:txBody>
          <a:bodyPr wrap="square">
            <a:spAutoFit/>
          </a:bodyPr>
          <a:lstStyle/>
          <a:p>
            <a:pPr algn="ctr"/>
            <a:r>
              <a:rPr sz="700" b="0" i="0" dirty="0">
                <a:solidFill>
                  <a:srgbClr val="FFFFFF"/>
                </a:solidFill>
              </a:rPr>
              <a:t>National Grid DSM  |  CDP Snowflake Loader  |  IBM Bob Level 3  |  Althaf P M  |  202</a:t>
            </a:r>
            <a:r>
              <a:rPr lang="en-IN" sz="700" b="0" i="0" dirty="0">
                <a:solidFill>
                  <a:srgbClr val="FFFFFF"/>
                </a:solidFill>
              </a:rPr>
              <a:t>6</a:t>
            </a:r>
            <a:r>
              <a:rPr sz="700" b="0" i="0" dirty="0">
                <a:solidFill>
                  <a:srgbClr val="FFFFFF"/>
                </a:solidFill>
              </a:rPr>
              <a:t>  |  Made with IBM Bob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9B447FE-DDA9-4B30-828A-59FC56912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88825"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3D487F7-9050-4871-B351-34A72ADB2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3" y="-1"/>
            <a:ext cx="6094413"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43C27DD-EF6A-4C48-9669-C2970E71A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53737" y="610335"/>
            <a:ext cx="6858003" cy="5637333"/>
          </a:xfrm>
          <a:prstGeom prst="rect">
            <a:avLst/>
          </a:prstGeom>
          <a:gradFill>
            <a:gsLst>
              <a:gs pos="0">
                <a:schemeClr val="accent1">
                  <a:alpha val="23000"/>
                </a:schemeClr>
              </a:gs>
              <a:gs pos="71000">
                <a:schemeClr val="accent1">
                  <a:lumMod val="50000"/>
                  <a:alpha val="0"/>
                </a:schemeClr>
              </a:gs>
              <a:gs pos="100000">
                <a:srgbClr val="000000">
                  <a:alpha val="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05A1AA86-B7E6-4C02-AA34-F1A25CD4C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516" y="2217950"/>
            <a:ext cx="6101928" cy="4640049"/>
          </a:xfrm>
          <a:prstGeom prst="rect">
            <a:avLst/>
          </a:prstGeom>
          <a:gradFill>
            <a:gsLst>
              <a:gs pos="0">
                <a:schemeClr val="accent1">
                  <a:alpha val="0"/>
                </a:schemeClr>
              </a:gs>
              <a:gs pos="72000">
                <a:srgbClr val="000000">
                  <a:alpha val="21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86C3B9CB-4E48-4726-B7B9-9E02F71B1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137312">
            <a:off x="564488" y="1212026"/>
            <a:ext cx="4640488" cy="4639280"/>
          </a:xfrm>
          <a:prstGeom prst="ellipse">
            <a:avLst/>
          </a:prstGeom>
          <a:gradFill>
            <a:gsLst>
              <a:gs pos="53000">
                <a:schemeClr val="accent1">
                  <a:alpha val="0"/>
                </a:schemeClr>
              </a:gs>
              <a:gs pos="100000">
                <a:schemeClr val="accent1">
                  <a:lumMod val="40000"/>
                  <a:lumOff val="60000"/>
                  <a:alpha val="1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C84384FE-1C88-4CAA-8FB8-2313A3AE7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517" y="0"/>
            <a:ext cx="6101929" cy="6870700"/>
          </a:xfrm>
          <a:prstGeom prst="rect">
            <a:avLst/>
          </a:prstGeom>
          <a:gradFill>
            <a:gsLst>
              <a:gs pos="24000">
                <a:schemeClr val="accent1">
                  <a:alpha val="0"/>
                </a:schemeClr>
              </a:gs>
              <a:gs pos="100000">
                <a:srgbClr val="000000">
                  <a:alpha val="71000"/>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itle 1">
            <a:extLst>
              <a:ext uri="{FF2B5EF4-FFF2-40B4-BE49-F238E27FC236}">
                <a16:creationId xmlns:a16="http://schemas.microsoft.com/office/drawing/2014/main" id="{058DBF18-E2D5-4518-3983-52493EE45F66}"/>
              </a:ext>
            </a:extLst>
          </p:cNvPr>
          <p:cNvSpPr txBox="1">
            <a:spLocks/>
          </p:cNvSpPr>
          <p:nvPr/>
        </p:nvSpPr>
        <p:spPr>
          <a:xfrm>
            <a:off x="1069509" y="2654490"/>
            <a:ext cx="4566496" cy="3220382"/>
          </a:xfrm>
          <a:prstGeom prst="rect">
            <a:avLst/>
          </a:prstGeom>
        </p:spPr>
        <p:txBody>
          <a:bodyPr vert="horz" lIns="91440" tIns="45720" rIns="91440" bIns="45720" rtlCol="0"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defTabSz="914400">
              <a:lnSpc>
                <a:spcPct val="90000"/>
              </a:lnSpc>
              <a:spcAft>
                <a:spcPts val="600"/>
              </a:spcAft>
            </a:pPr>
            <a:r>
              <a:rPr lang="en-US" sz="4800">
                <a:solidFill>
                  <a:srgbClr val="FFFFFF"/>
                </a:solidFill>
              </a:rPr>
              <a:t>Thank You!</a:t>
            </a:r>
          </a:p>
        </p:txBody>
      </p:sp>
      <p:pic>
        <p:nvPicPr>
          <p:cNvPr id="3" name="Picture 2" descr="Thank You Teodor the Cat">
            <a:extLst>
              <a:ext uri="{FF2B5EF4-FFF2-40B4-BE49-F238E27FC236}">
                <a16:creationId xmlns:a16="http://schemas.microsoft.com/office/drawing/2014/main" id="{A733F219-41D0-EA0D-24D4-BD3A63D430B8}"/>
              </a:ext>
            </a:extLst>
          </p:cNvPr>
          <p:cNvPicPr>
            <a:picLocks noChangeAspect="1"/>
          </p:cNvPicPr>
          <p:nvPr/>
        </p:nvPicPr>
        <p:blipFill>
          <a:blip r:embed="rId2"/>
          <a:srcRect l="10317" r="2525" b="-1"/>
          <a:stretch>
            <a:fillRect/>
          </a:stretch>
        </p:blipFill>
        <p:spPr>
          <a:xfrm>
            <a:off x="6551492" y="457200"/>
            <a:ext cx="5180253" cy="5943600"/>
          </a:xfrm>
          <a:prstGeom prst="rect">
            <a:avLst/>
          </a:prstGeom>
        </p:spPr>
      </p:pic>
    </p:spTree>
    <p:extLst>
      <p:ext uri="{BB962C8B-B14F-4D97-AF65-F5344CB8AC3E}">
        <p14:creationId xmlns:p14="http://schemas.microsoft.com/office/powerpoint/2010/main" val="2054701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TotalTime>
  <Words>2171</Words>
  <Application>Microsoft Office PowerPoint</Application>
  <PresentationFormat>Custom</PresentationFormat>
  <Paragraphs>185</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Althaf P M</cp:lastModifiedBy>
  <cp:revision>5</cp:revision>
  <dcterms:created xsi:type="dcterms:W3CDTF">2013-01-27T09:14:16Z</dcterms:created>
  <dcterms:modified xsi:type="dcterms:W3CDTF">2026-08-06T01:26:28Z</dcterms:modified>
  <cp:category/>
</cp:coreProperties>
</file>